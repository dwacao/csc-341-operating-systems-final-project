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68" r:id="rId3"/>
    <p:sldId id="269" r:id="rId4"/>
    <p:sldId id="266" r:id="rId5"/>
    <p:sldId id="270" r:id="rId6"/>
    <p:sldId id="267" r:id="rId7"/>
    <p:sldId id="263"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2" autoAdjust="0"/>
    <p:restoredTop sz="67487" autoAdjust="0"/>
  </p:normalViewPr>
  <p:slideViewPr>
    <p:cSldViewPr snapToGrid="0">
      <p:cViewPr varScale="1">
        <p:scale>
          <a:sx n="59" d="100"/>
          <a:sy n="59" d="100"/>
        </p:scale>
        <p:origin x="342" y="60"/>
      </p:cViewPr>
      <p:guideLst/>
    </p:cSldViewPr>
  </p:slideViewPr>
  <p:notesTextViewPr>
    <p:cViewPr>
      <p:scale>
        <a:sx n="1" d="1"/>
        <a:sy n="1" d="1"/>
      </p:scale>
      <p:origin x="0" y="0"/>
    </p:cViewPr>
  </p:notesTextViewPr>
  <p:notesViewPr>
    <p:cSldViewPr snapToGrid="0">
      <p:cViewPr varScale="1">
        <p:scale>
          <a:sx n="60" d="100"/>
          <a:sy n="60" d="100"/>
        </p:scale>
        <p:origin x="1670"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B2889B-A0AC-4482-8592-5C96F2309420}" type="datetimeFigureOut">
              <a:rPr lang="en-US" smtClean="0"/>
              <a:t>12/17/2025</a:t>
            </a:fld>
            <a:endParaRPr lang="en-US"/>
          </a:p>
        </p:txBody>
      </p:sp>
      <p:sp>
        <p:nvSpPr>
          <p:cNvPr id="4" name="Footer Placeholder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529299-61FF-4B93-ADA6-2FD5975D62F6}" type="slidenum">
              <a:rPr lang="en-US" smtClean="0"/>
              <a:t>‹#›</a:t>
            </a:fld>
            <a:endParaRPr lang="en-US"/>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B223-FFC0-462A-A3B8-EAA7CE0F8CBD}" type="datetimeFigureOut">
              <a:rPr lang="en-US" smtClean="0"/>
              <a:t>12/17/2025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49E9A-41F7-4779-A581-48A7C374A227}" type="slidenum">
              <a:rPr lang="en-US" smtClean="0"/>
              <a:t>‹#›</a:t>
            </a:fld>
            <a:endParaRPr lang="en-US" dirty="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uses simple CPU‑hogging programs in MINIX 3 and Ubuntu Linux to see how real schedulers handle a process that never gives up the CPU, similar to heavy apps or browser tabs on a desktop system.</a:t>
            </a:r>
          </a:p>
        </p:txBody>
      </p:sp>
      <p:sp>
        <p:nvSpPr>
          <p:cNvPr id="4" name="Slide Number Placeholder 3"/>
          <p:cNvSpPr>
            <a:spLocks noGrp="1"/>
          </p:cNvSpPr>
          <p:nvPr>
            <p:ph type="sldNum" sz="quarter" idx="5"/>
          </p:nvPr>
        </p:nvSpPr>
        <p:spPr/>
        <p:txBody>
          <a:bodyPr/>
          <a:lstStyle/>
          <a:p>
            <a:fld id="{BC849E9A-41F7-4779-A581-48A7C374A227}" type="slidenum">
              <a:rPr lang="en-US" smtClean="0"/>
              <a:t>1</a:t>
            </a:fld>
            <a:endParaRPr lang="en-US" dirty="0"/>
          </a:p>
        </p:txBody>
      </p:sp>
    </p:spTree>
    <p:extLst>
      <p:ext uri="{BB962C8B-B14F-4D97-AF65-F5344CB8AC3E}">
        <p14:creationId xmlns:p14="http://schemas.microsoft.com/office/powerpoint/2010/main" val="3420327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Windows 11 juggles Chrome tabs, Discord, antivirus—all competing for CPU. The scheduler decides who runs next so your desktop stays responsive, not frozen.</a:t>
            </a:r>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2</a:t>
            </a:fld>
            <a:endParaRPr lang="en-US" dirty="0"/>
          </a:p>
        </p:txBody>
      </p:sp>
    </p:spTree>
    <p:extLst>
      <p:ext uri="{BB962C8B-B14F-4D97-AF65-F5344CB8AC3E}">
        <p14:creationId xmlns:p14="http://schemas.microsoft.com/office/powerpoint/2010/main" val="4192102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That half-second PC freeze happens when a background app hogs its full quantum, making desktop threads wait.</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In the above-given Diagram,</a:t>
            </a:r>
          </a:p>
          <a:p>
            <a:r>
              <a:rPr lang="en-US" sz="1200" b="0" i="0" kern="1200" dirty="0">
                <a:solidFill>
                  <a:schemeClr val="tx1"/>
                </a:solidFill>
                <a:effectLst/>
                <a:latin typeface="+mn-lt"/>
                <a:ea typeface="+mn-ea"/>
                <a:cs typeface="+mn-cs"/>
              </a:rPr>
              <a:t>Rectangle represents a queue.</a:t>
            </a:r>
          </a:p>
          <a:p>
            <a:r>
              <a:rPr lang="en-US" sz="1200" b="0" i="0" kern="1200" dirty="0">
                <a:solidFill>
                  <a:schemeClr val="tx1"/>
                </a:solidFill>
                <a:effectLst/>
                <a:latin typeface="+mn-lt"/>
                <a:ea typeface="+mn-ea"/>
                <a:cs typeface="+mn-cs"/>
              </a:rPr>
              <a:t>Circle denotes the resource</a:t>
            </a:r>
          </a:p>
          <a:p>
            <a:r>
              <a:rPr lang="en-US" sz="1200" b="0" i="0" kern="1200" dirty="0">
                <a:solidFill>
                  <a:schemeClr val="tx1"/>
                </a:solidFill>
                <a:effectLst/>
                <a:latin typeface="+mn-lt"/>
                <a:ea typeface="+mn-ea"/>
                <a:cs typeface="+mn-cs"/>
              </a:rPr>
              <a:t>Arrow indicates the flow of the process.</a:t>
            </a:r>
          </a:p>
          <a:p>
            <a:r>
              <a:rPr lang="en-US" sz="1200" b="0" i="0" kern="1200" dirty="0">
                <a:solidFill>
                  <a:schemeClr val="tx1"/>
                </a:solidFill>
                <a:effectLst/>
                <a:latin typeface="+mn-lt"/>
                <a:ea typeface="+mn-ea"/>
                <a:cs typeface="+mn-cs"/>
              </a:rPr>
              <a:t>Every new process first put in the Ready queue .It waits in the ready queue until it is finally processed for execution. Here, the new process is put in the ready queue and wait until it is selected for execution or it is dispatched.</a:t>
            </a:r>
          </a:p>
          <a:p>
            <a:r>
              <a:rPr lang="en-US" sz="1200" b="0" i="0" kern="1200" dirty="0">
                <a:solidFill>
                  <a:schemeClr val="tx1"/>
                </a:solidFill>
                <a:effectLst/>
                <a:latin typeface="+mn-lt"/>
                <a:ea typeface="+mn-ea"/>
                <a:cs typeface="+mn-cs"/>
              </a:rPr>
              <a:t>One of the processes is allocated the CPU and it is executing</a:t>
            </a:r>
          </a:p>
          <a:p>
            <a:r>
              <a:rPr lang="en-US" sz="1200" b="0" i="0" kern="1200" dirty="0">
                <a:solidFill>
                  <a:schemeClr val="tx1"/>
                </a:solidFill>
                <a:effectLst/>
                <a:latin typeface="+mn-lt"/>
                <a:ea typeface="+mn-ea"/>
                <a:cs typeface="+mn-cs"/>
              </a:rPr>
              <a:t>The process should issue an I/O request</a:t>
            </a:r>
          </a:p>
          <a:p>
            <a:r>
              <a:rPr lang="en-US" sz="1200" b="0" i="0" kern="1200" dirty="0">
                <a:solidFill>
                  <a:schemeClr val="tx1"/>
                </a:solidFill>
                <a:effectLst/>
                <a:latin typeface="+mn-lt"/>
                <a:ea typeface="+mn-ea"/>
                <a:cs typeface="+mn-cs"/>
              </a:rPr>
              <a:t>Then, it should be placed in the I/O queue.</a:t>
            </a:r>
          </a:p>
          <a:p>
            <a:r>
              <a:rPr lang="en-US" sz="1200" b="0" i="0" kern="1200" dirty="0">
                <a:solidFill>
                  <a:schemeClr val="tx1"/>
                </a:solidFill>
                <a:effectLst/>
                <a:latin typeface="+mn-lt"/>
                <a:ea typeface="+mn-ea"/>
                <a:cs typeface="+mn-cs"/>
              </a:rPr>
              <a:t>The process should create a new subprocess</a:t>
            </a:r>
          </a:p>
          <a:p>
            <a:r>
              <a:rPr lang="en-US" sz="1200" b="0" i="0" kern="1200" dirty="0">
                <a:solidFill>
                  <a:schemeClr val="tx1"/>
                </a:solidFill>
                <a:effectLst/>
                <a:latin typeface="+mn-lt"/>
                <a:ea typeface="+mn-ea"/>
                <a:cs typeface="+mn-cs"/>
              </a:rPr>
              <a:t>The process should be waiting for its termination.</a:t>
            </a:r>
          </a:p>
          <a:p>
            <a:r>
              <a:rPr lang="en-US" sz="1200" b="0" i="0" kern="1200" dirty="0">
                <a:solidFill>
                  <a:schemeClr val="tx1"/>
                </a:solidFill>
                <a:effectLst/>
                <a:latin typeface="+mn-lt"/>
                <a:ea typeface="+mn-ea"/>
                <a:cs typeface="+mn-cs"/>
              </a:rPr>
              <a:t>It should remove forcefully from the CPU, as a result interrupt. Once interrupt is completed, it should be sent back to ready queue.</a:t>
            </a:r>
          </a:p>
        </p:txBody>
      </p:sp>
      <p:sp>
        <p:nvSpPr>
          <p:cNvPr id="4" name="Slide Number Placeholder 3"/>
          <p:cNvSpPr>
            <a:spLocks noGrp="1"/>
          </p:cNvSpPr>
          <p:nvPr>
            <p:ph type="sldNum" sz="quarter" idx="10"/>
          </p:nvPr>
        </p:nvSpPr>
        <p:spPr/>
        <p:txBody>
          <a:bodyPr/>
          <a:lstStyle/>
          <a:p>
            <a:fld id="{BC849E9A-41F7-4779-A581-48A7C374A227}" type="slidenum">
              <a:rPr lang="en-US" smtClean="0"/>
              <a:t>3</a:t>
            </a:fld>
            <a:endParaRPr lang="en-US" dirty="0"/>
          </a:p>
        </p:txBody>
      </p:sp>
    </p:spTree>
    <p:extLst>
      <p:ext uri="{BB962C8B-B14F-4D97-AF65-F5344CB8AC3E}">
        <p14:creationId xmlns:p14="http://schemas.microsoft.com/office/powerpoint/2010/main" val="3871000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Convoy effect: Slow truck blocks fast cars (long job starves short ones)</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Gantt Chart</a:t>
            </a:r>
            <a:r>
              <a:rPr lang="en-US" sz="1200" b="0" i="0" kern="1200" dirty="0">
                <a:solidFill>
                  <a:schemeClr val="tx1"/>
                </a:solidFill>
                <a:effectLst/>
                <a:latin typeface="+mn-lt"/>
                <a:ea typeface="+mn-ea"/>
                <a:cs typeface="+mn-cs"/>
              </a:rPr>
              <a:t>, which is a horizontal timeline indicating which processes are run and at what times they run starting from when all tasks are submitted and ending when all tasks have been completed.</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suppose the scheduler is given 4 tasks, A, B, C and D. Each task requires a certain number of time units to complete.</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FCFS scheduler’s Gantt chart for these tasks would be:</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tasks are inserted into the queue in order A, B, C and D. as shown above. Task A takes 8 time units to complete, B takes 4 units to complete (therefore, B completes at time 12), etc. Task D ends at time 26, which is the time it took to run and complete all processes.</a:t>
            </a:r>
            <a:br>
              <a:rPr lang="en-US" sz="1200" b="0" i="0" kern="1200" dirty="0">
                <a:solidFill>
                  <a:schemeClr val="tx1"/>
                </a:solidFill>
                <a:effectLst/>
                <a:latin typeface="+mn-lt"/>
                <a:ea typeface="+mn-ea"/>
                <a:cs typeface="+mn-cs"/>
              </a:rPr>
            </a:br>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BC849E9A-41F7-4779-A581-48A7C374A227}" type="slidenum">
              <a:rPr lang="en-US" smtClean="0"/>
              <a:t>4</a:t>
            </a:fld>
            <a:endParaRPr lang="en-US" dirty="0"/>
          </a:p>
        </p:txBody>
      </p:sp>
    </p:spTree>
    <p:extLst>
      <p:ext uri="{BB962C8B-B14F-4D97-AF65-F5344CB8AC3E}">
        <p14:creationId xmlns:p14="http://schemas.microsoft.com/office/powerpoint/2010/main" val="2295961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 ran `./</a:t>
            </a:r>
            <a:r>
              <a:rPr lang="en-US" sz="1200" kern="1200" dirty="0" err="1">
                <a:solidFill>
                  <a:schemeClr val="tx1"/>
                </a:solidFill>
                <a:effectLst/>
                <a:latin typeface="+mn-lt"/>
                <a:ea typeface="+mn-ea"/>
                <a:cs typeface="+mn-cs"/>
              </a:rPr>
              <a:t>cpu_hog</a:t>
            </a:r>
            <a:r>
              <a:rPr lang="en-US" sz="1200" kern="1200" dirty="0">
                <a:solidFill>
                  <a:schemeClr val="tx1"/>
                </a:solidFill>
                <a:effectLst/>
                <a:latin typeface="+mn-lt"/>
                <a:ea typeface="+mn-ea"/>
                <a:cs typeface="+mn-cs"/>
              </a:rPr>
              <a:t>` in MINIX 3. In `</a:t>
            </a:r>
            <a:r>
              <a:rPr lang="en-US" sz="1200" kern="1200" dirty="0" err="1">
                <a:solidFill>
                  <a:schemeClr val="tx1"/>
                </a:solidFill>
                <a:effectLst/>
                <a:latin typeface="+mn-lt"/>
                <a:ea typeface="+mn-ea"/>
                <a:cs typeface="+mn-cs"/>
              </a:rPr>
              <a:t>ps`</a:t>
            </a:r>
            <a:r>
              <a:rPr lang="en-US" sz="1200" kern="1200" dirty="0">
                <a:solidFill>
                  <a:schemeClr val="tx1"/>
                </a:solidFill>
                <a:effectLst/>
                <a:latin typeface="+mn-lt"/>
                <a:ea typeface="+mn-ea"/>
                <a:cs typeface="+mn-cs"/>
              </a:rPr>
              <a:t> (process status), I saw it listed with its PID and growing TIME—proof it's consuming CPU cycles steadily. It didn't hit 100% because MINIX's scheduler was already preempting it with quanta, just like it should. The 'still working' prints showed it kept running without freezing the system.</a:t>
            </a:r>
            <a:endParaRPr lang="en-US" sz="1200" kern="1200" dirty="0">
              <a:solidFill>
                <a:schemeClr val="tx1"/>
              </a:solidFill>
              <a:latin typeface="+mn-lt"/>
              <a:ea typeface="+mn-ea"/>
              <a:cs typeface="+mn-cs"/>
            </a:endParaRPr>
          </a:p>
          <a:p>
            <a:endParaRPr lang="en-US" b="1" i="0" dirty="0">
              <a:latin typeface="Segoe UI" panose="020B0502040204020203" pitchFamily="34" charset="0"/>
              <a:cs typeface="Segoe UI" panose="020B0502040204020203" pitchFamily="34" charset="0"/>
            </a:endParaRPr>
          </a:p>
          <a:p>
            <a:r>
              <a:rPr lang="en-US" sz="1200" kern="1200" dirty="0">
                <a:solidFill>
                  <a:schemeClr val="tx1"/>
                </a:solidFill>
                <a:effectLst/>
                <a:latin typeface="+mn-lt"/>
                <a:ea typeface="+mn-ea"/>
                <a:cs typeface="+mn-cs"/>
              </a:rPr>
              <a:t>Ps (process status) showed </a:t>
            </a:r>
            <a:r>
              <a:rPr lang="en-US" sz="1200" kern="1200" dirty="0" err="1">
                <a:solidFill>
                  <a:schemeClr val="tx1"/>
                </a:solidFill>
                <a:effectLst/>
                <a:latin typeface="+mn-lt"/>
                <a:ea typeface="+mn-ea"/>
                <a:cs typeface="+mn-cs"/>
              </a:rPr>
              <a:t>cpuhog</a:t>
            </a:r>
            <a:r>
              <a:rPr lang="en-US" sz="1200" kern="1200" dirty="0">
                <a:solidFill>
                  <a:schemeClr val="tx1"/>
                </a:solidFill>
                <a:effectLst/>
                <a:latin typeface="+mn-lt"/>
                <a:ea typeface="+mn-ea"/>
                <a:cs typeface="+mn-cs"/>
              </a:rPr>
              <a:t> with growing TIME column—proof it's eating CPU steadily. </a:t>
            </a:r>
          </a:p>
          <a:p>
            <a:r>
              <a:rPr lang="en-US" sz="1200" kern="1200" dirty="0">
                <a:solidFill>
                  <a:schemeClr val="tx1"/>
                </a:solidFill>
                <a:effectLst/>
                <a:latin typeface="+mn-lt"/>
                <a:ea typeface="+mn-ea"/>
                <a:cs typeface="+mn-cs"/>
              </a:rPr>
              <a:t>MINIX scheduler shared CPU so it never froze the system, just like it should.</a:t>
            </a:r>
            <a:endParaRPr lang="en-US" sz="1200" kern="1200" dirty="0">
              <a:solidFill>
                <a:schemeClr val="tx1"/>
              </a:solidFill>
              <a:latin typeface="+mn-lt"/>
              <a:ea typeface="+mn-ea"/>
              <a:cs typeface="+mn-cs"/>
            </a:endParaRPr>
          </a:p>
          <a:p>
            <a:br>
              <a:rPr lang="en-US" b="1" i="0" dirty="0">
                <a:latin typeface="Segoe UI" panose="020B0502040204020203" pitchFamily="34" charset="0"/>
                <a:cs typeface="Segoe UI" panose="020B0502040204020203" pitchFamily="34" charset="0"/>
              </a:rPr>
            </a:br>
            <a:r>
              <a:rPr lang="en-US" b="1" dirty="0"/>
              <a:t>PID</a:t>
            </a:r>
            <a:r>
              <a:rPr lang="en-US" dirty="0"/>
              <a:t>: Unique ID number for each process</a:t>
            </a:r>
          </a:p>
          <a:p>
            <a:r>
              <a:rPr lang="en-US" b="1" dirty="0"/>
              <a:t>TTY</a:t>
            </a:r>
            <a:r>
              <a:rPr lang="en-US" dirty="0"/>
              <a:t>: Which terminal it's attached to (like </a:t>
            </a:r>
            <a:r>
              <a:rPr lang="en-US" sz="1200" kern="1200" dirty="0">
                <a:solidFill>
                  <a:schemeClr val="tx1"/>
                </a:solidFill>
                <a:latin typeface="+mn-lt"/>
                <a:ea typeface="+mn-ea"/>
                <a:cs typeface="+mn-cs"/>
              </a:rPr>
              <a:t>tty1</a:t>
            </a:r>
            <a:r>
              <a:rPr lang="en-US" dirty="0"/>
              <a:t>)</a:t>
            </a:r>
          </a:p>
          <a:p>
            <a:r>
              <a:rPr lang="en-US" b="1" dirty="0"/>
              <a:t>TIME</a:t>
            </a:r>
            <a:r>
              <a:rPr lang="en-US" dirty="0"/>
              <a:t>: </a:t>
            </a:r>
            <a:r>
              <a:rPr lang="en-US" b="1" dirty="0"/>
              <a:t>CPU time used</a:t>
            </a:r>
            <a:r>
              <a:rPr lang="en-US" dirty="0"/>
              <a:t> (</a:t>
            </a:r>
            <a:r>
              <a:rPr lang="en-US" dirty="0" err="1"/>
              <a:t>minutes:seconds</a:t>
            </a:r>
            <a:r>
              <a:rPr lang="en-US" dirty="0"/>
              <a:t>) – this grows as </a:t>
            </a:r>
            <a:r>
              <a:rPr lang="en-US" dirty="0" err="1"/>
              <a:t>cpuhog</a:t>
            </a:r>
            <a:r>
              <a:rPr lang="en-US" dirty="0"/>
              <a:t> works</a:t>
            </a:r>
          </a:p>
          <a:p>
            <a:r>
              <a:rPr lang="en-US" b="1" dirty="0"/>
              <a:t>CMD</a:t>
            </a:r>
            <a:r>
              <a:rPr lang="en-US" dirty="0"/>
              <a:t>: Command name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cpu_hog</a:t>
            </a:r>
            <a:r>
              <a:rPr lang="en-US" dirty="0"/>
              <a:t>)</a:t>
            </a:r>
          </a:p>
          <a:p>
            <a:endParaRPr lang="en-US" dirty="0"/>
          </a:p>
          <a:p>
            <a:endParaRPr lang="en-US" dirty="0"/>
          </a:p>
          <a:p>
            <a:br>
              <a:rPr lang="en-US" dirty="0"/>
            </a:br>
            <a:endParaRPr lang="en-US" dirty="0"/>
          </a:p>
          <a:p>
            <a:endParaRPr lang="en-US" b="1" i="0"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BC849E9A-41F7-4779-A581-48A7C374A227}" type="slidenum">
              <a:rPr lang="en-US" smtClean="0"/>
              <a:t>5</a:t>
            </a:fld>
            <a:endParaRPr lang="en-US" dirty="0"/>
          </a:p>
        </p:txBody>
      </p:sp>
    </p:spTree>
    <p:extLst>
      <p:ext uri="{BB962C8B-B14F-4D97-AF65-F5344CB8AC3E}">
        <p14:creationId xmlns:p14="http://schemas.microsoft.com/office/powerpoint/2010/main" val="898123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I built custom Bash 5.2, loaded </a:t>
            </a:r>
            <a:r>
              <a:rPr lang="en-US" sz="1200" kern="1200" dirty="0" err="1">
                <a:solidFill>
                  <a:schemeClr val="tx1"/>
                </a:solidFill>
                <a:latin typeface="+mn-lt"/>
                <a:ea typeface="+mn-ea"/>
                <a:cs typeface="+mn-cs"/>
              </a:rPr>
              <a:t>cpuhog</a:t>
            </a:r>
            <a:r>
              <a:rPr lang="en-US" dirty="0"/>
              <a:t> </a:t>
            </a:r>
            <a:r>
              <a:rPr lang="en-US" dirty="0" err="1"/>
              <a:t>builtin</a:t>
            </a:r>
            <a:r>
              <a:rPr lang="en-US" dirty="0"/>
              <a:t>, and ran it 4 times. Each cycle printed 'Starting CPU stress test...' then 'CPU hog complete. Sum: 4999999950000000' after ~100 million iterations. </a:t>
            </a:r>
            <a:r>
              <a:rPr lang="en-US" dirty="0" err="1"/>
              <a:t>htop</a:t>
            </a:r>
            <a:r>
              <a:rPr lang="en-US" dirty="0"/>
              <a:t> showed bash process running, but the key proof? Desktop stayed smooth, no freeze. Linux CFS preempted it automatically.</a:t>
            </a:r>
            <a:br>
              <a:rPr lang="en-US" dirty="0"/>
            </a:br>
            <a:br>
              <a:rPr lang="en-US" dirty="0"/>
            </a:br>
            <a:r>
              <a:rPr lang="en-US" dirty="0">
                <a:effectLst/>
              </a:rPr>
              <a:t>Completely Fair Scheduler</a:t>
            </a:r>
            <a:r>
              <a:rPr lang="en-US" sz="1200" b="0" i="0" kern="1200" dirty="0">
                <a:solidFill>
                  <a:schemeClr val="tx1"/>
                </a:solidFill>
                <a:effectLst/>
                <a:latin typeface="+mn-lt"/>
                <a:ea typeface="+mn-ea"/>
                <a:cs typeface="+mn-cs"/>
              </a:rPr>
              <a:t> (CFS) uses a Red-Black tree data structure to maintain a time-ordered list of runnable tasks, sorted by their virtual runtime (</a:t>
            </a:r>
            <a:r>
              <a:rPr lang="en-US" sz="1200" b="0" i="0" kern="1200" dirty="0" err="1">
                <a:solidFill>
                  <a:schemeClr val="tx1"/>
                </a:solidFill>
                <a:effectLst/>
                <a:latin typeface="+mn-lt"/>
                <a:ea typeface="+mn-ea"/>
                <a:cs typeface="+mn-cs"/>
              </a:rPr>
              <a:t>vruntime</a:t>
            </a:r>
            <a:r>
              <a:rPr lang="en-US" sz="1200" b="0" i="0" kern="1200" dirty="0">
                <a:solidFill>
                  <a:schemeClr val="tx1"/>
                </a:solidFill>
                <a:effectLst/>
                <a:latin typeface="+mn-lt"/>
                <a:ea typeface="+mn-ea"/>
                <a:cs typeface="+mn-cs"/>
              </a:rPr>
              <a:t>), which tracks the amount of CPU time a task has consumed relative to others.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task with the smallest </a:t>
            </a:r>
            <a:r>
              <a:rPr lang="en-US" sz="1200" b="0" i="0" kern="1200" dirty="0" err="1">
                <a:solidFill>
                  <a:schemeClr val="tx1"/>
                </a:solidFill>
                <a:effectLst/>
                <a:latin typeface="+mn-lt"/>
                <a:ea typeface="+mn-ea"/>
                <a:cs typeface="+mn-cs"/>
              </a:rPr>
              <a:t>vruntime</a:t>
            </a:r>
            <a:r>
              <a:rPr lang="en-US" sz="1200" b="0" i="0" kern="1200" dirty="0">
                <a:solidFill>
                  <a:schemeClr val="tx1"/>
                </a:solidFill>
                <a:effectLst/>
                <a:latin typeface="+mn-lt"/>
                <a:ea typeface="+mn-ea"/>
                <a:cs typeface="+mn-cs"/>
              </a:rPr>
              <a:t> is selected for execution next, ensuring that tasks that have used less CPU time are prioritized, which helps maintain interactivity and fairness, especially for I/O-bound processes.</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htop</a:t>
            </a:r>
            <a:r>
              <a:rPr lang="en-US" sz="1200" b="0" i="0" kern="1200" dirty="0">
                <a:solidFill>
                  <a:schemeClr val="tx1"/>
                </a:solidFill>
                <a:effectLst/>
                <a:latin typeface="+mn-lt"/>
                <a:ea typeface="+mn-ea"/>
                <a:cs typeface="+mn-cs"/>
              </a:rPr>
              <a:t> didn't scream '100% CPU' (VMware throttles sometimes), but bash was there, 4 full cycles completed fast, and Ubuntu stayed responsive. That's CFS working, no hog takeover.</a:t>
            </a:r>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6</a:t>
            </a:fld>
            <a:endParaRPr lang="en-US" dirty="0"/>
          </a:p>
        </p:txBody>
      </p:sp>
    </p:spTree>
    <p:extLst>
      <p:ext uri="{BB962C8B-B14F-4D97-AF65-F5344CB8AC3E}">
        <p14:creationId xmlns:p14="http://schemas.microsoft.com/office/powerpoint/2010/main" val="4224310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a:t>
            </a:r>
            <a:r>
              <a:rPr lang="en-US" dirty="0" err="1"/>
              <a:t>Vmware</a:t>
            </a:r>
            <a:r>
              <a:rPr lang="en-US" dirty="0"/>
              <a:t> workstation, MINIX showed steady CPU use in (process status) </a:t>
            </a:r>
            <a:r>
              <a:rPr lang="en-US" sz="1200" kern="1200" dirty="0" err="1">
                <a:solidFill>
                  <a:schemeClr val="tx1"/>
                </a:solidFill>
                <a:latin typeface="+mn-lt"/>
                <a:ea typeface="+mn-ea"/>
                <a:cs typeface="+mn-cs"/>
              </a:rPr>
              <a:t>ps</a:t>
            </a:r>
            <a:r>
              <a:rPr lang="en-US" dirty="0"/>
              <a:t> TIME, no freeze because of preemption. As well with Linux. Both prevent total lockup, just like your PC when a background hog causes those half-second hangs.</a:t>
            </a:r>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BC849E9A-41F7-4779-A581-48A7C374A227}" type="slidenum">
              <a:rPr lang="en-US" smtClean="0"/>
              <a:t>7</a:t>
            </a:fld>
            <a:endParaRPr lang="en-US" dirty="0"/>
          </a:p>
        </p:txBody>
      </p:sp>
    </p:spTree>
    <p:extLst>
      <p:ext uri="{BB962C8B-B14F-4D97-AF65-F5344CB8AC3E}">
        <p14:creationId xmlns:p14="http://schemas.microsoft.com/office/powerpoint/2010/main" val="1825341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err="1">
                <a:solidFill>
                  <a:schemeClr val="tx1"/>
                </a:solidFill>
                <a:latin typeface="+mn-lt"/>
                <a:ea typeface="+mn-ea"/>
                <a:cs typeface="+mn-cs"/>
              </a:rPr>
              <a:t>ps</a:t>
            </a:r>
            <a:r>
              <a:rPr lang="en-US" dirty="0"/>
              <a:t> TIME growing steadily proved my </a:t>
            </a:r>
            <a:r>
              <a:rPr lang="en-US" dirty="0" err="1"/>
              <a:t>cpuhog</a:t>
            </a:r>
            <a:r>
              <a:rPr lang="en-US" dirty="0"/>
              <a:t> worked. Every PC hang you feel is scheduling doing its job—just like MINIX and Linux handled my experiments perfectly.</a:t>
            </a:r>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BC849E9A-41F7-4779-A581-48A7C374A227}" type="slidenum">
              <a:rPr lang="en-US" smtClean="0"/>
              <a:t>8</a:t>
            </a:fld>
            <a:endParaRPr lang="en-US" dirty="0"/>
          </a:p>
        </p:txBody>
      </p:sp>
    </p:spTree>
    <p:extLst>
      <p:ext uri="{BB962C8B-B14F-4D97-AF65-F5344CB8AC3E}">
        <p14:creationId xmlns:p14="http://schemas.microsoft.com/office/powerpoint/2010/main" val="1335805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BC849E9A-41F7-4779-A581-48A7C374A227}" type="slidenum">
              <a:rPr lang="en-US" smtClean="0"/>
              <a:t>9</a:t>
            </a:fld>
            <a:endParaRPr lang="en-US" dirty="0"/>
          </a:p>
        </p:txBody>
      </p:sp>
    </p:spTree>
    <p:extLst>
      <p:ext uri="{BB962C8B-B14F-4D97-AF65-F5344CB8AC3E}">
        <p14:creationId xmlns:p14="http://schemas.microsoft.com/office/powerpoint/2010/main" val="644202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18B7-7F68-4CC9-8291-332587FA3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81D6BB-0446-49E8-8677-EADF274E95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5AEE24-534A-40F1-99E4-00B7D5FD9124}"/>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5" name="Footer Placeholder 4">
            <a:extLst>
              <a:ext uri="{FF2B5EF4-FFF2-40B4-BE49-F238E27FC236}">
                <a16:creationId xmlns:a16="http://schemas.microsoft.com/office/drawing/2014/main" id="{CD594011-48FF-493D-8286-F62D345525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34F3-0709-471B-A734-C4B404F55B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795016-AF78-4708-9C5F-21110C197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EA2D1-B124-4454-AFDC-EA60A14BA121}"/>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5" name="Footer Placeholder 4">
            <a:extLst>
              <a:ext uri="{FF2B5EF4-FFF2-40B4-BE49-F238E27FC236}">
                <a16:creationId xmlns:a16="http://schemas.microsoft.com/office/drawing/2014/main" id="{B4F58000-F9D7-4A53-A6C5-E5E8154226B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6159-1280-4EE9-96D3-A56BD58266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A27A78-1874-488A-B215-7D763D338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4BB3D1-3138-4B69-BF5D-4B1A213451CA}"/>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5" name="Footer Placeholder 4">
            <a:extLst>
              <a:ext uri="{FF2B5EF4-FFF2-40B4-BE49-F238E27FC236}">
                <a16:creationId xmlns:a16="http://schemas.microsoft.com/office/drawing/2014/main" id="{0EFF90C5-31F4-4A22-AC00-3FB5ED291B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AA11-CC97-44E5-AE4D-808FD741A0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3AB6CB-9460-4BCA-86C5-5F26357AB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FAB0F6-401D-4BAF-A300-65AD684DF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561BBA-B185-4B45-B152-3D320E15F550}"/>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6" name="Footer Placeholder 5">
            <a:extLst>
              <a:ext uri="{FF2B5EF4-FFF2-40B4-BE49-F238E27FC236}">
                <a16:creationId xmlns:a16="http://schemas.microsoft.com/office/drawing/2014/main" id="{D61CD760-96AC-4821-A56B-0B805F2FAD4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47C3-C498-415A-A057-E19BCEB5F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F6677F-2712-4810-A3AA-56FA75386D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1B54A-6775-4978-8E19-32694C9B5E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BA1303-B245-476D-BD02-A4E4A359F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8E898F-5B79-46F1-89C1-F827997CC4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417A4D-2EC9-4294-BFF4-EAE22EE1099A}"/>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8" name="Footer Placeholder 7">
            <a:extLst>
              <a:ext uri="{FF2B5EF4-FFF2-40B4-BE49-F238E27FC236}">
                <a16:creationId xmlns:a16="http://schemas.microsoft.com/office/drawing/2014/main" id="{6150E317-3602-42A1-BB7F-0184072E8D5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68FC-5755-447A-8D7F-9ADED3E99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B50287-81AA-46CA-8CB3-53A7F8313741}"/>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4" name="Footer Placeholder 3">
            <a:extLst>
              <a:ext uri="{FF2B5EF4-FFF2-40B4-BE49-F238E27FC236}">
                <a16:creationId xmlns:a16="http://schemas.microsoft.com/office/drawing/2014/main" id="{2F1BA4AA-02C9-459E-9362-3DA60E3B597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ACAA5-F8E7-46E9-8BA7-A510948B62CC}"/>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3" name="Footer Placeholder 2">
            <a:extLst>
              <a:ext uri="{FF2B5EF4-FFF2-40B4-BE49-F238E27FC236}">
                <a16:creationId xmlns:a16="http://schemas.microsoft.com/office/drawing/2014/main" id="{D1F2DEE8-5654-4DCA-A8D0-D883E52B6FB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DA80-336B-4DBB-91A1-6E3E4B3C20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40D456-F0A3-4789-A310-A23F01B2E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8A8B05-7071-44D4-80F7-3E8191C9A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8562E-E6F1-449B-909C-98426BA86B36}"/>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6" name="Footer Placeholder 5">
            <a:extLst>
              <a:ext uri="{FF2B5EF4-FFF2-40B4-BE49-F238E27FC236}">
                <a16:creationId xmlns:a16="http://schemas.microsoft.com/office/drawing/2014/main" id="{7EB47A9A-FB08-407B-A73A-0AC513F0FD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474D-6779-4C23-BD3C-82F5DC3E3E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21096C-E430-49C7-A801-21C0BD95D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024828F-334F-4A50-850D-10684F245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3293F4-2B70-4BB5-A982-219E4133E251}"/>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6" name="Footer Placeholder 5">
            <a:extLst>
              <a:ext uri="{FF2B5EF4-FFF2-40B4-BE49-F238E27FC236}">
                <a16:creationId xmlns:a16="http://schemas.microsoft.com/office/drawing/2014/main" id="{C4F9A86F-B378-4759-B50E-2E0BFAE6246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7D73-EDDA-49A6-BA12-1CA980DA9B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89B82E-4CA1-47A5-B133-FBD4D8A839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A267F-D142-4D04-9F03-6CB099E6FA32}"/>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5" name="Footer Placeholder 4">
            <a:extLst>
              <a:ext uri="{FF2B5EF4-FFF2-40B4-BE49-F238E27FC236}">
                <a16:creationId xmlns:a16="http://schemas.microsoft.com/office/drawing/2014/main" id="{705127CA-154D-4E90-B776-A2EE71F78D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6E92A-52E0-4710-BDEF-0A1534685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240E1-5EB0-47FD-AA37-BF945D136C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14243-F1E4-487A-ABEC-30516A01DF2B}"/>
              </a:ext>
            </a:extLst>
          </p:cNvPr>
          <p:cNvSpPr>
            <a:spLocks noGrp="1"/>
          </p:cNvSpPr>
          <p:nvPr>
            <p:ph type="dt" sz="half" idx="10"/>
          </p:nvPr>
        </p:nvSpPr>
        <p:spPr/>
        <p:txBody>
          <a:bodyPr/>
          <a:lstStyle/>
          <a:p>
            <a:fld id="{DECF21A4-E71B-4D3A-AF45-E989C23A7BB1}" type="datetimeFigureOut">
              <a:rPr lang="en-US" smtClean="0"/>
              <a:t>12/17/2025</a:t>
            </a:fld>
            <a:endParaRPr lang="en-US" dirty="0"/>
          </a:p>
        </p:txBody>
      </p:sp>
      <p:sp>
        <p:nvSpPr>
          <p:cNvPr id="5" name="Footer Placeholder 4">
            <a:extLst>
              <a:ext uri="{FF2B5EF4-FFF2-40B4-BE49-F238E27FC236}">
                <a16:creationId xmlns:a16="http://schemas.microsoft.com/office/drawing/2014/main" id="{AC358244-98FD-472D-AB8C-075F71C10B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F21A4-E71B-4D3A-AF45-E989C23A7BB1}" type="datetimeFigureOut">
              <a:rPr lang="en-US" smtClean="0"/>
              <a:t>12/17/2025</a:t>
            </a:fld>
            <a:endParaRPr lang="en-US" dirty="0"/>
          </a:p>
        </p:txBody>
      </p:sp>
      <p:sp>
        <p:nvSpPr>
          <p:cNvPr id="5" name="Footer Placeholder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F1B4E-90EC-4A51-B6E5-B702C054ECB0}" type="slidenum">
              <a:rPr lang="en-US" smtClean="0"/>
              <a:t>‹#›</a:t>
            </a:fld>
            <a:endParaRPr lang="en-US" dirty="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25.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2.svg"/><Relationship Id="rId4" Type="http://schemas.openxmlformats.org/officeDocument/2006/relationships/image" Target="../media/image8.svg"/><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4654295" y="4522156"/>
            <a:ext cx="5609222" cy="1363215"/>
          </a:xfrm>
        </p:spPr>
        <p:txBody>
          <a:bodyPr anchor="t">
            <a:noAutofit/>
          </a:bodyPr>
          <a:lstStyle/>
          <a:p>
            <a:pPr algn="l"/>
            <a:r>
              <a:rPr lang="en-US" sz="2800" dirty="0">
                <a:latin typeface="Times New Roman" panose="02020603050405020304" pitchFamily="18" charset="0"/>
                <a:cs typeface="Times New Roman" panose="02020603050405020304" pitchFamily="18" charset="0"/>
              </a:rPr>
              <a:t>CSC 341: </a:t>
            </a:r>
            <a:r>
              <a:rPr lang="en-US" sz="2800" b="1" dirty="0">
                <a:latin typeface="Times New Roman" panose="02020603050405020304" pitchFamily="18" charset="0"/>
                <a:cs typeface="Times New Roman" panose="02020603050405020304" pitchFamily="18" charset="0"/>
              </a:rPr>
              <a:t>Operating Systems -</a:t>
            </a:r>
            <a:r>
              <a:rPr lang="en-US" sz="2800" dirty="0">
                <a:latin typeface="Times New Roman" panose="02020603050405020304" pitchFamily="18" charset="0"/>
                <a:cs typeface="Times New Roman" panose="02020603050405020304" pitchFamily="18" charset="0"/>
              </a:rPr>
              <a:t> CPU Scheduling Research Project - Alex Cao - 12/18/2025 -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California State University Dominguez Hills</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endParaRPr lang="en-US" sz="3200" dirty="0">
              <a:latin typeface="Franklin Gothic Book" panose="020B0503020102020204" pitchFamily="34" charset="0"/>
              <a:cs typeface="Segoe UI" panose="020B0502040204020203" pitchFamily="34" charset="0"/>
            </a:endParaRPr>
          </a:p>
        </p:txBody>
      </p:sp>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4654296" y="3945418"/>
            <a:ext cx="5609219" cy="576738"/>
          </a:xfrm>
        </p:spPr>
        <p:txBody>
          <a:bodyPr anchor="b">
            <a:noAutofit/>
          </a:bodyPr>
          <a:lstStyle/>
          <a:p>
            <a:pPr algn="l"/>
            <a:r>
              <a:rPr lang="en-US" dirty="0">
                <a:latin typeface="Times New Roman" panose="02020603050405020304" pitchFamily="18" charset="0"/>
                <a:cs typeface="Times New Roman" panose="02020603050405020304" pitchFamily="18" charset="0"/>
              </a:rPr>
              <a:t>CPU Scheduling in MINIX 3 and Linux Using a </a:t>
            </a:r>
            <a:r>
              <a:rPr lang="en-US" dirty="0" err="1">
                <a:latin typeface="Times New Roman" panose="02020603050405020304" pitchFamily="18" charset="0"/>
                <a:cs typeface="Times New Roman" panose="02020603050405020304" pitchFamily="18" charset="0"/>
              </a:rPr>
              <a:t>cpuhog</a:t>
            </a:r>
            <a:r>
              <a:rPr lang="en-US" dirty="0">
                <a:latin typeface="Times New Roman" panose="02020603050405020304" pitchFamily="18" charset="0"/>
                <a:cs typeface="Times New Roman" panose="02020603050405020304" pitchFamily="18" charset="0"/>
              </a:rPr>
              <a:t> Program</a:t>
            </a:r>
          </a:p>
        </p:txBody>
      </p:sp>
      <p:sp>
        <p:nvSpPr>
          <p:cNvPr id="29" name="Freeform: Shape 28">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EBA87361-6D30-46E4-834B-719CF5905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2"/>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D89DB1C0-FEEC-4CB6-88B2-F9C5562E0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85250" y="164573"/>
            <a:ext cx="1636279" cy="1636279"/>
          </a:xfrm>
          <a:prstGeom prst="rect">
            <a:avLst/>
          </a:prstGeom>
        </p:spPr>
      </p:pic>
      <p:sp>
        <p:nvSpPr>
          <p:cNvPr id="37" name="Oval 36">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117" y="615908"/>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08163D1C-ED91-4D5F-A33B-CF1256B27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709" y="780500"/>
            <a:ext cx="2852928" cy="28529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80302" y="1293093"/>
            <a:ext cx="1827742" cy="1827742"/>
          </a:xfrm>
          <a:prstGeom prst="rect">
            <a:avLst/>
          </a:prstGeom>
        </p:spPr>
      </p:pic>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0924" y="3621724"/>
            <a:ext cx="2594886" cy="2594886"/>
          </a:xfrm>
          <a:prstGeom prst="rect">
            <a:avLst/>
          </a:prstGeom>
        </p:spPr>
      </p:pic>
      <p:sp>
        <p:nvSpPr>
          <p:cNvPr id="41" name="Freeform: Shape 40">
            <a:extLst>
              <a:ext uri="{FF2B5EF4-FFF2-40B4-BE49-F238E27FC236}">
                <a16:creationId xmlns:a16="http://schemas.microsoft.com/office/drawing/2014/main" id="{31103AB2-C090-458F-B752-294F23AFA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1"/>
            <a:ext cx="3439432" cy="3785157"/>
          </a:xfrm>
          <a:custGeom>
            <a:avLst/>
            <a:gdLst>
              <a:gd name="connsiteX0" fmla="*/ 198262 w 3439432"/>
              <a:gd name="connsiteY0" fmla="*/ 0 h 3785157"/>
              <a:gd name="connsiteX1" fmla="*/ 3439432 w 3439432"/>
              <a:gd name="connsiteY1" fmla="*/ 0 h 3785157"/>
              <a:gd name="connsiteX2" fmla="*/ 3439432 w 3439432"/>
              <a:gd name="connsiteY2" fmla="*/ 3697836 h 3785157"/>
              <a:gd name="connsiteX3" fmla="*/ 3318024 w 3439432"/>
              <a:gd name="connsiteY3" fmla="*/ 3729054 h 3785157"/>
              <a:gd name="connsiteX4" fmla="*/ 2761488 w 3439432"/>
              <a:gd name="connsiteY4" fmla="*/ 3785157 h 3785157"/>
              <a:gd name="connsiteX5" fmla="*/ 0 w 3439432"/>
              <a:gd name="connsiteY5" fmla="*/ 1023669 h 3785157"/>
              <a:gd name="connsiteX6" fmla="*/ 124151 w 3439432"/>
              <a:gd name="connsiteY6" fmla="*/ 202487 h 378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785157">
                <a:moveTo>
                  <a:pt x="198262" y="0"/>
                </a:moveTo>
                <a:lnTo>
                  <a:pt x="3439432" y="0"/>
                </a:lnTo>
                <a:lnTo>
                  <a:pt x="3439432" y="3697836"/>
                </a:lnTo>
                <a:lnTo>
                  <a:pt x="3318024" y="3729054"/>
                </a:lnTo>
                <a:cubicBezTo>
                  <a:pt x="3138258" y="3765839"/>
                  <a:pt x="2952129" y="3785157"/>
                  <a:pt x="2761488" y="3785157"/>
                </a:cubicBezTo>
                <a:cubicBezTo>
                  <a:pt x="1236360" y="3785157"/>
                  <a:pt x="0" y="2548797"/>
                  <a:pt x="0" y="1023669"/>
                </a:cubicBezTo>
                <a:cubicBezTo>
                  <a:pt x="0" y="737708"/>
                  <a:pt x="43466" y="461898"/>
                  <a:pt x="124151" y="20248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83D471F3-782A-4BA1-9CAB-FF5CDF0A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2"/>
            <a:ext cx="3273238" cy="3618965"/>
          </a:xfrm>
          <a:custGeom>
            <a:avLst/>
            <a:gdLst>
              <a:gd name="connsiteX0" fmla="*/ 210437 w 3273238"/>
              <a:gd name="connsiteY0" fmla="*/ 0 h 3618965"/>
              <a:gd name="connsiteX1" fmla="*/ 3273238 w 3273238"/>
              <a:gd name="connsiteY1" fmla="*/ 0 h 3618965"/>
              <a:gd name="connsiteX2" fmla="*/ 3273238 w 3273238"/>
              <a:gd name="connsiteY2" fmla="*/ 3526409 h 3618965"/>
              <a:gd name="connsiteX3" fmla="*/ 3118338 w 3273238"/>
              <a:gd name="connsiteY3" fmla="*/ 3566238 h 3618965"/>
              <a:gd name="connsiteX4" fmla="*/ 2595295 w 3273238"/>
              <a:gd name="connsiteY4" fmla="*/ 3618965 h 3618965"/>
              <a:gd name="connsiteX5" fmla="*/ 0 w 3273238"/>
              <a:gd name="connsiteY5" fmla="*/ 1023670 h 3618965"/>
              <a:gd name="connsiteX6" fmla="*/ 203951 w 3273238"/>
              <a:gd name="connsiteY6" fmla="*/ 13464 h 361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618965">
                <a:moveTo>
                  <a:pt x="210437" y="0"/>
                </a:moveTo>
                <a:lnTo>
                  <a:pt x="3273238" y="0"/>
                </a:lnTo>
                <a:lnTo>
                  <a:pt x="3273238" y="3526409"/>
                </a:lnTo>
                <a:lnTo>
                  <a:pt x="3118338" y="3566238"/>
                </a:lnTo>
                <a:cubicBezTo>
                  <a:pt x="2949390" y="3600810"/>
                  <a:pt x="2774463" y="3618965"/>
                  <a:pt x="2595295" y="3618965"/>
                </a:cubicBezTo>
                <a:cubicBezTo>
                  <a:pt x="1161953" y="3618965"/>
                  <a:pt x="0" y="2457012"/>
                  <a:pt x="0" y="1023670"/>
                </a:cubicBezTo>
                <a:cubicBezTo>
                  <a:pt x="0" y="665335"/>
                  <a:pt x="72622" y="323961"/>
                  <a:pt x="203951" y="1346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25024" y="327889"/>
            <a:ext cx="2260711" cy="2260711"/>
          </a:xfrm>
          <a:prstGeom prst="rect">
            <a:avLst/>
          </a:prstGeom>
        </p:spPr>
      </p:pic>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824B-4279-4D47-92DD-71F5353FAA23}"/>
              </a:ext>
            </a:extLst>
          </p:cNvPr>
          <p:cNvSpPr>
            <a:spLocks noGrp="1"/>
          </p:cNvSpPr>
          <p:nvPr>
            <p:ph type="title"/>
          </p:nvPr>
        </p:nvSpPr>
        <p:spPr>
          <a:xfrm>
            <a:off x="283308" y="169573"/>
            <a:ext cx="10515600" cy="1325563"/>
          </a:xfrm>
        </p:spPr>
        <p:txBody>
          <a:bodyPr/>
          <a:lstStyle/>
          <a:p>
            <a:r>
              <a:rPr lang="en-US" b="1" dirty="0"/>
              <a:t>What is CPU Scheduling?</a:t>
            </a:r>
          </a:p>
        </p:txBody>
      </p:sp>
      <p:sp>
        <p:nvSpPr>
          <p:cNvPr id="5" name="TextBox 4">
            <a:extLst>
              <a:ext uri="{FF2B5EF4-FFF2-40B4-BE49-F238E27FC236}">
                <a16:creationId xmlns:a16="http://schemas.microsoft.com/office/drawing/2014/main" id="{25AD4F61-E023-4530-BF03-8BC2D825D0BF}"/>
              </a:ext>
            </a:extLst>
          </p:cNvPr>
          <p:cNvSpPr txBox="1"/>
          <p:nvPr/>
        </p:nvSpPr>
        <p:spPr>
          <a:xfrm>
            <a:off x="283308" y="1495136"/>
            <a:ext cx="10515600" cy="3046988"/>
          </a:xfrm>
          <a:prstGeom prst="rect">
            <a:avLst/>
          </a:prstGeom>
          <a:noFill/>
        </p:spPr>
        <p:txBody>
          <a:bodyPr wrap="square" rtlCol="0">
            <a:spAutoFit/>
          </a:bodyPr>
          <a:lstStyle/>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CPU can run one instruction stream per core at a time.</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Many processes want the CPU.</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Scheduler decides which ready process runs next.</a:t>
            </a:r>
          </a:p>
          <a:p>
            <a:pPr marL="285750" indent="-28575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Real example: Windows 11 sharing CPU among apps and browser tabs.</a:t>
            </a:r>
          </a:p>
          <a:p>
            <a:endParaRPr lang="en-US" sz="3200" dirty="0">
              <a:latin typeface="Segoe UI" panose="020B0502040204020203" pitchFamily="34" charset="0"/>
              <a:cs typeface="Segoe UI" panose="020B0502040204020203" pitchFamily="34" charset="0"/>
            </a:endParaRPr>
          </a:p>
        </p:txBody>
      </p:sp>
      <p:pic>
        <p:nvPicPr>
          <p:cNvPr id="10" name="Picture 9" descr="A screenshot of a computer&#10;&#10;AI-generated content may be incorrect.">
            <a:extLst>
              <a:ext uri="{FF2B5EF4-FFF2-40B4-BE49-F238E27FC236}">
                <a16:creationId xmlns:a16="http://schemas.microsoft.com/office/drawing/2014/main" id="{E3E14130-860A-1DEC-4B6E-E58F766F07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9792" y="3498925"/>
            <a:ext cx="7982868" cy="3189502"/>
          </a:xfrm>
          <a:prstGeom prst="rect">
            <a:avLst/>
          </a:prstGeom>
        </p:spPr>
      </p:pic>
    </p:spTree>
    <p:extLst>
      <p:ext uri="{BB962C8B-B14F-4D97-AF65-F5344CB8AC3E}">
        <p14:creationId xmlns:p14="http://schemas.microsoft.com/office/powerpoint/2010/main" val="153491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iagram of a process&#10;&#10;AI-generated content may be incorrect.">
            <a:extLst>
              <a:ext uri="{FF2B5EF4-FFF2-40B4-BE49-F238E27FC236}">
                <a16:creationId xmlns:a16="http://schemas.microsoft.com/office/drawing/2014/main" id="{56DBFD99-0517-C4BF-1B1E-D6440CD2B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0"/>
            <a:ext cx="6096000" cy="3889829"/>
          </a:xfrm>
          <a:prstGeom prst="rect">
            <a:avLst/>
          </a:prstGeom>
        </p:spPr>
      </p:pic>
      <p:sp>
        <p:nvSpPr>
          <p:cNvPr id="5" name="Title 4">
            <a:extLst>
              <a:ext uri="{FF2B5EF4-FFF2-40B4-BE49-F238E27FC236}">
                <a16:creationId xmlns:a16="http://schemas.microsoft.com/office/drawing/2014/main" id="{64BD0A42-B011-4DBF-B5CD-6718A97E3C70}"/>
              </a:ext>
            </a:extLst>
          </p:cNvPr>
          <p:cNvSpPr>
            <a:spLocks noGrp="1"/>
          </p:cNvSpPr>
          <p:nvPr>
            <p:ph type="title"/>
          </p:nvPr>
        </p:nvSpPr>
        <p:spPr>
          <a:xfrm>
            <a:off x="299358" y="-212271"/>
            <a:ext cx="10515600" cy="1325563"/>
          </a:xfrm>
        </p:spPr>
        <p:txBody>
          <a:bodyPr/>
          <a:lstStyle/>
          <a:p>
            <a:r>
              <a:rPr lang="en-US" b="1" dirty="0">
                <a:latin typeface="Times New Roman" panose="02020603050405020304" pitchFamily="18" charset="0"/>
                <a:cs typeface="Times New Roman" panose="02020603050405020304" pitchFamily="18" charset="0"/>
              </a:rPr>
              <a:t>Preemption and Quanta</a:t>
            </a:r>
          </a:p>
        </p:txBody>
      </p:sp>
      <p:sp>
        <p:nvSpPr>
          <p:cNvPr id="3" name="TextBox 2">
            <a:extLst>
              <a:ext uri="{FF2B5EF4-FFF2-40B4-BE49-F238E27FC236}">
                <a16:creationId xmlns:a16="http://schemas.microsoft.com/office/drawing/2014/main" id="{4F08F965-B293-47B3-B684-4631A57C9685}"/>
              </a:ext>
            </a:extLst>
          </p:cNvPr>
          <p:cNvSpPr txBox="1"/>
          <p:nvPr/>
        </p:nvSpPr>
        <p:spPr>
          <a:xfrm>
            <a:off x="299358" y="686019"/>
            <a:ext cx="5400040" cy="6001643"/>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Non-preemptive: One game thread hogs CPU → entire game freezes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Preemptive: Timer (10-100ms) forces switches between game + browser</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Short quantum: Smooth 60fps but more context switches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Long quantum: Fewer switches but input lag spikes</a:t>
            </a:r>
          </a:p>
          <a:p>
            <a:endParaRPr lang="en-US" sz="3200" i="1" dirty="0">
              <a:latin typeface="Segoe UI" panose="020B0502040204020203" pitchFamily="34" charset="0"/>
              <a:cs typeface="Segoe UI" panose="020B0502040204020203" pitchFamily="34" charset="0"/>
            </a:endParaRPr>
          </a:p>
        </p:txBody>
      </p:sp>
      <p:pic>
        <p:nvPicPr>
          <p:cNvPr id="12" name="Picture 11" descr="A white text with black text&#10;&#10;AI-generated content may be incorrect.">
            <a:extLst>
              <a:ext uri="{FF2B5EF4-FFF2-40B4-BE49-F238E27FC236}">
                <a16:creationId xmlns:a16="http://schemas.microsoft.com/office/drawing/2014/main" id="{9D6DB167-18A2-63B5-B32F-A12309A5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3889829"/>
            <a:ext cx="6094997" cy="2968171"/>
          </a:xfrm>
          <a:prstGeom prst="rect">
            <a:avLst/>
          </a:prstGeom>
        </p:spPr>
      </p:pic>
    </p:spTree>
    <p:extLst>
      <p:ext uri="{BB962C8B-B14F-4D97-AF65-F5344CB8AC3E}">
        <p14:creationId xmlns:p14="http://schemas.microsoft.com/office/powerpoint/2010/main" val="212758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screenshot of a task&#10;&#10;AI-generated content may be incorrect.">
            <a:extLst>
              <a:ext uri="{FF2B5EF4-FFF2-40B4-BE49-F238E27FC236}">
                <a16:creationId xmlns:a16="http://schemas.microsoft.com/office/drawing/2014/main" id="{06B82435-C277-0EE3-7184-09F9618803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6808" y="3055944"/>
            <a:ext cx="6035192" cy="3802056"/>
          </a:xfrm>
          <a:prstGeom prst="rect">
            <a:avLst/>
          </a:prstGeom>
        </p:spPr>
      </p:pic>
      <p:sp>
        <p:nvSpPr>
          <p:cNvPr id="2" name="Title 1">
            <a:extLst>
              <a:ext uri="{FF2B5EF4-FFF2-40B4-BE49-F238E27FC236}">
                <a16:creationId xmlns:a16="http://schemas.microsoft.com/office/drawing/2014/main" id="{EA0D9B4E-C292-45AA-8116-562703040382}"/>
              </a:ext>
            </a:extLst>
          </p:cNvPr>
          <p:cNvSpPr>
            <a:spLocks noGrp="1"/>
          </p:cNvSpPr>
          <p:nvPr>
            <p:ph type="title"/>
          </p:nvPr>
        </p:nvSpPr>
        <p:spPr>
          <a:xfrm>
            <a:off x="1422522" y="81353"/>
            <a:ext cx="5406902" cy="1469965"/>
          </a:xfrm>
        </p:spPr>
        <p:txBody>
          <a:bodyPr anchor="ctr">
            <a:normAutofit/>
          </a:bodyPr>
          <a:lstStyle/>
          <a:p>
            <a:r>
              <a:rPr lang="en-US" b="1" dirty="0">
                <a:latin typeface="Times New Roman" panose="02020603050405020304" pitchFamily="18" charset="0"/>
                <a:cs typeface="Times New Roman" panose="02020603050405020304" pitchFamily="18" charset="0"/>
              </a:rPr>
              <a:t>Why Quanta Matter</a:t>
            </a:r>
          </a:p>
        </p:txBody>
      </p:sp>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5242" y="267697"/>
            <a:ext cx="1097280" cy="1097280"/>
          </a:xfrm>
          <a:prstGeom prst="rect">
            <a:avLst/>
          </a:prstGeom>
        </p:spPr>
      </p:pic>
      <p:sp>
        <p:nvSpPr>
          <p:cNvPr id="3" name="Content Placeholder 2">
            <a:extLst>
              <a:ext uri="{FF2B5EF4-FFF2-40B4-BE49-F238E27FC236}">
                <a16:creationId xmlns:a16="http://schemas.microsoft.com/office/drawing/2014/main" id="{81072FAC-EEE9-4F26-A784-BC07EACCBE9F}"/>
              </a:ext>
            </a:extLst>
          </p:cNvPr>
          <p:cNvSpPr>
            <a:spLocks noGrp="1"/>
          </p:cNvSpPr>
          <p:nvPr>
            <p:ph idx="1"/>
          </p:nvPr>
        </p:nvSpPr>
        <p:spPr>
          <a:xfrm>
            <a:off x="685889" y="1551318"/>
            <a:ext cx="5406902" cy="1688746"/>
          </a:xfrm>
        </p:spPr>
        <p:txBody>
          <a:bodyPr vert="horz" lIns="91440" tIns="45720" rIns="91440" bIns="45720" rtlCol="0" anchor="t">
            <a:noAutofit/>
          </a:bodyPr>
          <a:lstStyle/>
          <a:p>
            <a:r>
              <a:rPr lang="en-US" sz="2400" dirty="0"/>
              <a:t>20 Chrome tabs: Heavy tabs hog CPU → light tabs starve</a:t>
            </a:r>
          </a:p>
          <a:p>
            <a:r>
              <a:rPr lang="en-US" sz="2400" dirty="0"/>
              <a:t>Short quanta: All tabs get turns → system stays smooth</a:t>
            </a:r>
          </a:p>
          <a:p>
            <a:r>
              <a:rPr lang="en-US" sz="2400" dirty="0"/>
              <a:t>PC stutter: One tab grabs full quantum → mouse lags 200ms</a:t>
            </a:r>
          </a:p>
          <a:p>
            <a:r>
              <a:rPr lang="en-US" sz="2400" dirty="0"/>
              <a:t>Game parallel: Heavy AI thread → frame timing spikes</a:t>
            </a:r>
          </a:p>
        </p:txBody>
      </p:sp>
      <p:pic>
        <p:nvPicPr>
          <p:cNvPr id="9" name="Graphic 8">
            <a:extLst>
              <a:ext uri="{FF2B5EF4-FFF2-40B4-BE49-F238E27FC236}">
                <a16:creationId xmlns:a16="http://schemas.microsoft.com/office/drawing/2014/main" id="{35127EDA-5861-47AB-8729-620CFC7DAC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15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381659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608093B7-0504-A437-CDC5-73D356B1EC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1803" y="3429000"/>
            <a:ext cx="6130198" cy="3428999"/>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DA07F2D5-451F-AADB-9261-A57443D3E3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1802" y="1"/>
            <a:ext cx="6130198" cy="3428999"/>
          </a:xfrm>
          <a:prstGeom prst="rect">
            <a:avLst/>
          </a:prstGeom>
        </p:spPr>
      </p:pic>
      <p:sp>
        <p:nvSpPr>
          <p:cNvPr id="2" name="Title 1">
            <a:extLst>
              <a:ext uri="{FF2B5EF4-FFF2-40B4-BE49-F238E27FC236}">
                <a16:creationId xmlns:a16="http://schemas.microsoft.com/office/drawing/2014/main" id="{0FDE5079-B185-4DE0-AF2C-AE4B7709FBC3}"/>
              </a:ext>
            </a:extLst>
          </p:cNvPr>
          <p:cNvSpPr>
            <a:spLocks noGrp="1"/>
          </p:cNvSpPr>
          <p:nvPr>
            <p:ph type="title"/>
          </p:nvPr>
        </p:nvSpPr>
        <p:spPr>
          <a:xfrm>
            <a:off x="1422522" y="81353"/>
            <a:ext cx="5406902" cy="1469965"/>
          </a:xfrm>
        </p:spPr>
        <p:txBody>
          <a:bodyPr anchor="ctr">
            <a:normAutofit/>
          </a:bodyPr>
          <a:lstStyle/>
          <a:p>
            <a:r>
              <a:rPr lang="en-US" b="1" dirty="0"/>
              <a:t>MINIX 3 </a:t>
            </a:r>
            <a:r>
              <a:rPr lang="en-US" b="1" dirty="0" err="1"/>
              <a:t>cpuhog</a:t>
            </a:r>
            <a:r>
              <a:rPr lang="en-US" b="1" dirty="0"/>
              <a:t> Experiment</a:t>
            </a:r>
          </a:p>
        </p:txBody>
      </p:sp>
      <p:pic>
        <p:nvPicPr>
          <p:cNvPr id="4" name="Content Placeholder 4" descr="Scales of Justice">
            <a:extLst>
              <a:ext uri="{FF2B5EF4-FFF2-40B4-BE49-F238E27FC236}">
                <a16:creationId xmlns:a16="http://schemas.microsoft.com/office/drawing/2014/main" id="{53025FED-9BCD-4BE9-B74C-707E5FD740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5242" y="267697"/>
            <a:ext cx="1097280" cy="1097280"/>
          </a:xfrm>
          <a:prstGeom prst="rect">
            <a:avLst/>
          </a:prstGeom>
        </p:spPr>
      </p:pic>
      <p:sp>
        <p:nvSpPr>
          <p:cNvPr id="3" name="Content Placeholder 2">
            <a:extLst>
              <a:ext uri="{FF2B5EF4-FFF2-40B4-BE49-F238E27FC236}">
                <a16:creationId xmlns:a16="http://schemas.microsoft.com/office/drawing/2014/main" id="{89B4E0E8-07C8-4A23-99E2-20D6DFD6FA7A}"/>
              </a:ext>
            </a:extLst>
          </p:cNvPr>
          <p:cNvSpPr>
            <a:spLocks noGrp="1"/>
          </p:cNvSpPr>
          <p:nvPr>
            <p:ph idx="1"/>
          </p:nvPr>
        </p:nvSpPr>
        <p:spPr>
          <a:xfrm>
            <a:off x="325242" y="1551318"/>
            <a:ext cx="5406902" cy="1688746"/>
          </a:xfrm>
        </p:spPr>
        <p:txBody>
          <a:bodyPr vert="horz" lIns="91440" tIns="45720" rIns="91440" bIns="45720" rtlCol="0" anchor="t">
            <a:noAutofit/>
          </a:bodyPr>
          <a:lstStyle/>
          <a:p>
            <a:r>
              <a:rPr lang="en-US" sz="2400" dirty="0">
                <a:latin typeface="Times New Roman" panose="02020603050405020304" pitchFamily="18" charset="0"/>
                <a:cs typeface="Times New Roman" panose="02020603050405020304" pitchFamily="18" charset="0"/>
              </a:rPr>
              <a:t>MINIX 3 VM in VMware.</a:t>
            </a:r>
          </a:p>
          <a:p>
            <a:r>
              <a:rPr lang="en-US" sz="2400" dirty="0" err="1">
                <a:latin typeface="Times New Roman" panose="02020603050405020304" pitchFamily="18" charset="0"/>
                <a:cs typeface="Times New Roman" panose="02020603050405020304" pitchFamily="18" charset="0"/>
              </a:rPr>
              <a:t>cpuhog.c</a:t>
            </a:r>
            <a:r>
              <a:rPr lang="en-US" sz="2400" dirty="0">
                <a:latin typeface="Times New Roman" panose="02020603050405020304" pitchFamily="18" charset="0"/>
                <a:cs typeface="Times New Roman" panose="02020603050405020304" pitchFamily="18" charset="0"/>
              </a:rPr>
              <a:t>: infinite loop, never yields (like background hog).</a:t>
            </a:r>
          </a:p>
          <a:p>
            <a:r>
              <a:rPr lang="en-US" sz="2400" b="1" dirty="0">
                <a:latin typeface="Times New Roman" panose="02020603050405020304" pitchFamily="18" charset="0"/>
                <a:cs typeface="Times New Roman" panose="02020603050405020304" pitchFamily="18" charset="0"/>
              </a:rPr>
              <a:t>Observed in </a:t>
            </a:r>
            <a:r>
              <a:rPr lang="en-US" sz="2400" b="1" dirty="0" err="1">
                <a:latin typeface="Times New Roman" panose="02020603050405020304" pitchFamily="18" charset="0"/>
                <a:cs typeface="Times New Roman" panose="02020603050405020304" pitchFamily="18" charset="0"/>
              </a:rPr>
              <a:t>ps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cpu_hog</a:t>
            </a:r>
            <a:r>
              <a:rPr lang="en-US" sz="2400" dirty="0">
                <a:latin typeface="Times New Roman" panose="02020603050405020304" pitchFamily="18" charset="0"/>
                <a:cs typeface="Times New Roman" panose="02020603050405020304" pitchFamily="18" charset="0"/>
              </a:rPr>
              <a:t> running with PID, TTY, TIME, CMD.</a:t>
            </a:r>
          </a:p>
          <a:p>
            <a:r>
              <a:rPr lang="en-US" sz="2400" b="1" dirty="0">
                <a:latin typeface="Times New Roman" panose="02020603050405020304" pitchFamily="18" charset="0"/>
                <a:cs typeface="Times New Roman" panose="02020603050405020304" pitchFamily="18" charset="0"/>
              </a:rPr>
              <a:t>Proof it's working</a:t>
            </a:r>
            <a:r>
              <a:rPr lang="en-US" sz="2400" dirty="0">
                <a:latin typeface="Times New Roman" panose="02020603050405020304" pitchFamily="18" charset="0"/>
                <a:cs typeface="Times New Roman" panose="02020603050405020304" pitchFamily="18" charset="0"/>
              </a:rPr>
              <a:t>: Accumulates TIME (CPU used), stays in process list.</a:t>
            </a:r>
          </a:p>
        </p:txBody>
      </p:sp>
      <p:pic>
        <p:nvPicPr>
          <p:cNvPr id="8" name="Content Placeholder 4">
            <a:extLst>
              <a:ext uri="{FF2B5EF4-FFF2-40B4-BE49-F238E27FC236}">
                <a16:creationId xmlns:a16="http://schemas.microsoft.com/office/drawing/2014/main" id="{17062073-5027-4AA3-AB16-4D2C8C505AF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mt="15000"/>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41431" y="816337"/>
            <a:ext cx="5225327" cy="5225327"/>
          </a:xfrm>
          <a:prstGeom prst="rect">
            <a:avLst/>
          </a:prstGeom>
        </p:spPr>
      </p:pic>
      <p:sp>
        <p:nvSpPr>
          <p:cNvPr id="11" name="TextBox 10">
            <a:extLst>
              <a:ext uri="{FF2B5EF4-FFF2-40B4-BE49-F238E27FC236}">
                <a16:creationId xmlns:a16="http://schemas.microsoft.com/office/drawing/2014/main" id="{6C3CAA67-0497-5B31-81D1-D206D9D941C4}"/>
              </a:ext>
            </a:extLst>
          </p:cNvPr>
          <p:cNvSpPr txBox="1"/>
          <p:nvPr/>
        </p:nvSpPr>
        <p:spPr>
          <a:xfrm>
            <a:off x="0" y="4611230"/>
            <a:ext cx="6829424" cy="2246769"/>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Code Snippet: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volatile unsigned long </a:t>
            </a:r>
            <a:r>
              <a:rPr lang="en-US" sz="2000" dirty="0" err="1">
                <a:latin typeface="Times New Roman" panose="02020603050405020304" pitchFamily="18" charset="0"/>
                <a:cs typeface="Times New Roman" panose="02020603050405020304" pitchFamily="18" charset="0"/>
              </a:rPr>
              <a:t>long</a:t>
            </a:r>
            <a:r>
              <a:rPr lang="en-US" sz="2000" dirty="0">
                <a:latin typeface="Times New Roman" panose="02020603050405020304" pitchFamily="18" charset="0"/>
                <a:cs typeface="Times New Roman" panose="02020603050405020304" pitchFamily="18" charset="0"/>
              </a:rPr>
              <a:t> x = 0;</a:t>
            </a:r>
          </a:p>
          <a:p>
            <a:r>
              <a:rPr lang="en-US" sz="2000" dirty="0">
                <a:latin typeface="Times New Roman" panose="02020603050405020304" pitchFamily="18" charset="0"/>
                <a:cs typeface="Times New Roman" panose="02020603050405020304" pitchFamily="18" charset="0"/>
              </a:rPr>
              <a:t>while (1) {    </a:t>
            </a:r>
          </a:p>
          <a:p>
            <a:r>
              <a:rPr lang="en-US" sz="2000" dirty="0">
                <a:latin typeface="Times New Roman" panose="02020603050405020304" pitchFamily="18" charset="0"/>
                <a:cs typeface="Times New Roman" panose="02020603050405020304" pitchFamily="18" charset="0"/>
              </a:rPr>
              <a:t>    x++;   </a:t>
            </a:r>
          </a:p>
          <a:p>
            <a:r>
              <a:rPr lang="en-US" sz="2000" dirty="0">
                <a:latin typeface="Times New Roman" panose="02020603050405020304" pitchFamily="18" charset="0"/>
                <a:cs typeface="Times New Roman" panose="02020603050405020304" pitchFamily="18" charset="0"/>
              </a:rPr>
              <a:t>    if (x % 100000000ULL == 0)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printf</a:t>
            </a:r>
            <a:r>
              <a:rPr lang="en-US" sz="2000" dirty="0">
                <a:latin typeface="Times New Roman" panose="02020603050405020304" pitchFamily="18" charset="0"/>
                <a:cs typeface="Times New Roman" panose="02020603050405020304" pitchFamily="18" charset="0"/>
              </a:rPr>
              <a:t>("still working: %</a:t>
            </a:r>
            <a:r>
              <a:rPr lang="en-US" sz="2000" dirty="0" err="1">
                <a:latin typeface="Times New Roman" panose="02020603050405020304" pitchFamily="18" charset="0"/>
                <a:cs typeface="Times New Roman" panose="02020603050405020304" pitchFamily="18" charset="0"/>
              </a:rPr>
              <a:t>llu</a:t>
            </a:r>
            <a:r>
              <a:rPr lang="en-US" sz="2000" dirty="0">
                <a:latin typeface="Times New Roman" panose="02020603050405020304" pitchFamily="18" charset="0"/>
                <a:cs typeface="Times New Roman" panose="02020603050405020304" pitchFamily="18" charset="0"/>
              </a:rPr>
              <a:t>\n", x);</a:t>
            </a:r>
          </a:p>
          <a:p>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82630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4CEF4-01D3-4AF7-9E84-F43030ACA972}"/>
              </a:ext>
            </a:extLst>
          </p:cNvPr>
          <p:cNvSpPr>
            <a:spLocks noGrp="1"/>
          </p:cNvSpPr>
          <p:nvPr>
            <p:ph type="title"/>
          </p:nvPr>
        </p:nvSpPr>
        <p:spPr>
          <a:xfrm>
            <a:off x="909287" y="81353"/>
            <a:ext cx="5406902" cy="1469965"/>
          </a:xfrm>
        </p:spPr>
        <p:txBody>
          <a:bodyPr anchor="ctr">
            <a:normAutofit/>
          </a:bodyPr>
          <a:lstStyle/>
          <a:p>
            <a:r>
              <a:rPr lang="en-US" b="1" dirty="0">
                <a:latin typeface="Times New Roman" panose="02020603050405020304" pitchFamily="18" charset="0"/>
                <a:cs typeface="Times New Roman" panose="02020603050405020304" pitchFamily="18" charset="0"/>
              </a:rPr>
              <a:t>Linux Bash </a:t>
            </a:r>
            <a:r>
              <a:rPr lang="en-US" b="1" dirty="0" err="1">
                <a:latin typeface="Times New Roman" panose="02020603050405020304" pitchFamily="18" charset="0"/>
                <a:cs typeface="Times New Roman" panose="02020603050405020304" pitchFamily="18" charset="0"/>
              </a:rPr>
              <a:t>cpuhog</a:t>
            </a:r>
            <a:r>
              <a:rPr lang="en-US" b="1" dirty="0">
                <a:latin typeface="Times New Roman" panose="02020603050405020304" pitchFamily="18" charset="0"/>
                <a:cs typeface="Times New Roman" panose="02020603050405020304" pitchFamily="18" charset="0"/>
              </a:rPr>
              <a:t> Experiment</a:t>
            </a:r>
          </a:p>
        </p:txBody>
      </p:sp>
      <p:pic>
        <p:nvPicPr>
          <p:cNvPr id="4" name="Graphic 3" descr="Books on Shelf">
            <a:extLst>
              <a:ext uri="{FF2B5EF4-FFF2-40B4-BE49-F238E27FC236}">
                <a16:creationId xmlns:a16="http://schemas.microsoft.com/office/drawing/2014/main" id="{3DE94ADA-0031-43D4-A79A-B89B9599308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324" y="267695"/>
            <a:ext cx="1097280" cy="1097280"/>
          </a:xfrm>
          <a:prstGeom prst="rect">
            <a:avLst/>
          </a:prstGeom>
        </p:spPr>
      </p:pic>
      <p:sp>
        <p:nvSpPr>
          <p:cNvPr id="3" name="Content Placeholder 2">
            <a:extLst>
              <a:ext uri="{FF2B5EF4-FFF2-40B4-BE49-F238E27FC236}">
                <a16:creationId xmlns:a16="http://schemas.microsoft.com/office/drawing/2014/main" id="{31EFD88C-EC41-4850-9D1D-676D6AEE0358}"/>
              </a:ext>
            </a:extLst>
          </p:cNvPr>
          <p:cNvSpPr>
            <a:spLocks noGrp="1"/>
          </p:cNvSpPr>
          <p:nvPr>
            <p:ph idx="1"/>
          </p:nvPr>
        </p:nvSpPr>
        <p:spPr>
          <a:xfrm>
            <a:off x="325242" y="1551318"/>
            <a:ext cx="5406902" cy="1688746"/>
          </a:xfrm>
        </p:spPr>
        <p:txBody>
          <a:bodyPr vert="horz" lIns="91440" tIns="45720" rIns="91440" bIns="45720" rtlCol="0" anchor="t">
            <a:noAutofit/>
          </a:bodyPr>
          <a:lstStyle/>
          <a:p>
            <a:r>
              <a:rPr lang="en-US" sz="3200" dirty="0">
                <a:latin typeface="Times New Roman" panose="02020603050405020304" pitchFamily="18" charset="0"/>
                <a:cs typeface="Times New Roman" panose="02020603050405020304" pitchFamily="18" charset="0"/>
              </a:rPr>
              <a:t>Ubuntu VM in VMware.</a:t>
            </a:r>
          </a:p>
          <a:p>
            <a:r>
              <a:rPr lang="en-US" sz="3200" dirty="0">
                <a:latin typeface="Times New Roman" panose="02020603050405020304" pitchFamily="18" charset="0"/>
                <a:cs typeface="Times New Roman" panose="02020603050405020304" pitchFamily="18" charset="0"/>
              </a:rPr>
              <a:t>Custom Bash + loadable </a:t>
            </a:r>
            <a:r>
              <a:rPr lang="en-US" sz="3200" dirty="0" err="1">
                <a:latin typeface="Times New Roman" panose="02020603050405020304" pitchFamily="18" charset="0"/>
                <a:cs typeface="Times New Roman" panose="02020603050405020304" pitchFamily="18" charset="0"/>
              </a:rPr>
              <a:t>cpuhog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builtin</a:t>
            </a:r>
            <a:r>
              <a:rPr lang="en-US" sz="3200" dirty="0">
                <a:latin typeface="Times New Roman" panose="02020603050405020304" pitchFamily="18" charset="0"/>
                <a:cs typeface="Times New Roman" panose="02020603050405020304" pitchFamily="18" charset="0"/>
              </a:rPr>
              <a:t> (CPU hog inside shell).</a:t>
            </a:r>
          </a:p>
          <a:p>
            <a:r>
              <a:rPr lang="en-US" sz="3200" dirty="0">
                <a:latin typeface="Times New Roman" panose="02020603050405020304" pitchFamily="18" charset="0"/>
                <a:cs typeface="Times New Roman" panose="02020603050405020304" pitchFamily="18" charset="0"/>
              </a:rPr>
              <a:t>Observed: Bash spikes in top/</a:t>
            </a:r>
            <a:r>
              <a:rPr lang="en-US" sz="3200" dirty="0" err="1">
                <a:latin typeface="Times New Roman" panose="02020603050405020304" pitchFamily="18" charset="0"/>
                <a:cs typeface="Times New Roman" panose="02020603050405020304" pitchFamily="18" charset="0"/>
              </a:rPr>
              <a:t>htop</a:t>
            </a:r>
            <a:r>
              <a:rPr lang="en-US" sz="3200" dirty="0">
                <a:latin typeface="Times New Roman" panose="02020603050405020304" pitchFamily="18" charset="0"/>
                <a:cs typeface="Times New Roman" panose="02020603050405020304" pitchFamily="18" charset="0"/>
              </a:rPr>
              <a:t> but desktop stays responsive.</a:t>
            </a:r>
          </a:p>
        </p:txBody>
      </p:sp>
      <p:pic>
        <p:nvPicPr>
          <p:cNvPr id="8" name="Graphic 7">
            <a:extLst>
              <a:ext uri="{FF2B5EF4-FFF2-40B4-BE49-F238E27FC236}">
                <a16:creationId xmlns:a16="http://schemas.microsoft.com/office/drawing/2014/main" id="{984A409A-26BF-476C-858A-CFA0EBFAB6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32FC8EB0-527C-A5C3-8462-1277E5DD6E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51165" y="3117986"/>
            <a:ext cx="6540835" cy="3740013"/>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0F63014B-68D5-E226-DF25-9FDF306B51A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51165" y="0"/>
            <a:ext cx="6540835" cy="3508979"/>
          </a:xfrm>
          <a:prstGeom prst="rect">
            <a:avLst/>
          </a:prstGeom>
        </p:spPr>
      </p:pic>
    </p:spTree>
    <p:extLst>
      <p:ext uri="{BB962C8B-B14F-4D97-AF65-F5344CB8AC3E}">
        <p14:creationId xmlns:p14="http://schemas.microsoft.com/office/powerpoint/2010/main" val="397072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48CF1-C72A-4313-8FC7-BF6DD4642AFE}"/>
              </a:ext>
            </a:extLst>
          </p:cNvPr>
          <p:cNvSpPr>
            <a:spLocks noGrp="1"/>
          </p:cNvSpPr>
          <p:nvPr>
            <p:ph type="title"/>
          </p:nvPr>
        </p:nvSpPr>
        <p:spPr>
          <a:xfrm>
            <a:off x="1180042" y="0"/>
            <a:ext cx="5406902" cy="1469965"/>
          </a:xfrm>
        </p:spPr>
        <p:txBody>
          <a:bodyPr anchor="ctr">
            <a:normAutofit/>
          </a:bodyPr>
          <a:lstStyle/>
          <a:p>
            <a:r>
              <a:rPr lang="en-US" b="1" dirty="0"/>
              <a:t>How the Schedulers Behaved</a:t>
            </a:r>
          </a:p>
        </p:txBody>
      </p:sp>
      <p:pic>
        <p:nvPicPr>
          <p:cNvPr id="4" name="Graphic 3" descr="Blackboard">
            <a:extLst>
              <a:ext uri="{FF2B5EF4-FFF2-40B4-BE49-F238E27FC236}">
                <a16:creationId xmlns:a16="http://schemas.microsoft.com/office/drawing/2014/main" id="{A4298283-DDB8-4365-95A1-90935E16B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486" y="0"/>
            <a:ext cx="1097280" cy="1097280"/>
          </a:xfrm>
          <a:prstGeom prst="rect">
            <a:avLst/>
          </a:prstGeom>
        </p:spPr>
      </p:pic>
      <p:pic>
        <p:nvPicPr>
          <p:cNvPr id="8" name="Graphic 7">
            <a:extLst>
              <a:ext uri="{FF2B5EF4-FFF2-40B4-BE49-F238E27FC236}">
                <a16:creationId xmlns:a16="http://schemas.microsoft.com/office/drawing/2014/main" id="{B6C7BDF7-D7AC-4209-A6A9-11B953F882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graphicFrame>
        <p:nvGraphicFramePr>
          <p:cNvPr id="6" name="Content Placeholder 5">
            <a:extLst>
              <a:ext uri="{FF2B5EF4-FFF2-40B4-BE49-F238E27FC236}">
                <a16:creationId xmlns:a16="http://schemas.microsoft.com/office/drawing/2014/main" id="{E557A3D0-591C-1B64-59F8-BA3D69399727}"/>
              </a:ext>
            </a:extLst>
          </p:cNvPr>
          <p:cNvGraphicFramePr>
            <a:graphicFrameLocks noGrp="1"/>
          </p:cNvGraphicFramePr>
          <p:nvPr>
            <p:ph idx="1"/>
            <p:extLst>
              <p:ext uri="{D42A27DB-BD31-4B8C-83A1-F6EECF244321}">
                <p14:modId xmlns:p14="http://schemas.microsoft.com/office/powerpoint/2010/main" val="437268452"/>
              </p:ext>
            </p:extLst>
          </p:nvPr>
        </p:nvGraphicFramePr>
        <p:xfrm>
          <a:off x="581721" y="1524000"/>
          <a:ext cx="11028558" cy="4048006"/>
        </p:xfrm>
        <a:graphic>
          <a:graphicData uri="http://schemas.openxmlformats.org/drawingml/2006/table">
            <a:tbl>
              <a:tblPr/>
              <a:tblGrid>
                <a:gridCol w="3676186">
                  <a:extLst>
                    <a:ext uri="{9D8B030D-6E8A-4147-A177-3AD203B41FA5}">
                      <a16:colId xmlns:a16="http://schemas.microsoft.com/office/drawing/2014/main" val="4224826517"/>
                    </a:ext>
                  </a:extLst>
                </a:gridCol>
                <a:gridCol w="3676186">
                  <a:extLst>
                    <a:ext uri="{9D8B030D-6E8A-4147-A177-3AD203B41FA5}">
                      <a16:colId xmlns:a16="http://schemas.microsoft.com/office/drawing/2014/main" val="3235712822"/>
                    </a:ext>
                  </a:extLst>
                </a:gridCol>
                <a:gridCol w="3676186">
                  <a:extLst>
                    <a:ext uri="{9D8B030D-6E8A-4147-A177-3AD203B41FA5}">
                      <a16:colId xmlns:a16="http://schemas.microsoft.com/office/drawing/2014/main" val="4169336798"/>
                    </a:ext>
                  </a:extLst>
                </a:gridCol>
              </a:tblGrid>
              <a:tr h="639928">
                <a:tc>
                  <a:txBody>
                    <a:bodyPr/>
                    <a:lstStyle/>
                    <a:p>
                      <a:pPr algn="l">
                        <a:buNone/>
                      </a:pPr>
                      <a:r>
                        <a:rPr lang="en-US" sz="2400">
                          <a:effectLst/>
                          <a:latin typeface="Times New Roman" panose="02020603050405020304" pitchFamily="18" charset="0"/>
                          <a:cs typeface="Times New Roman" panose="02020603050405020304" pitchFamily="18" charset="0"/>
                        </a:rPr>
                        <a:t>Aspect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en-US" sz="2400">
                          <a:effectLst/>
                          <a:latin typeface="Times New Roman" panose="02020603050405020304" pitchFamily="18" charset="0"/>
                          <a:cs typeface="Times New Roman" panose="02020603050405020304" pitchFamily="18" charset="0"/>
                        </a:rPr>
                        <a:t>MINIX 3 (User-mode SCHED)</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en-US" sz="2400">
                          <a:effectLst/>
                          <a:latin typeface="Times New Roman" panose="02020603050405020304" pitchFamily="18" charset="0"/>
                          <a:cs typeface="Times New Roman" panose="02020603050405020304" pitchFamily="18" charset="0"/>
                        </a:rPr>
                        <a:t>Linux (CFS)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4148667473"/>
                  </a:ext>
                </a:extLst>
              </a:tr>
              <a:tr h="1140083">
                <a:tc>
                  <a:txBody>
                    <a:bodyPr/>
                    <a:lstStyle/>
                    <a:p>
                      <a:pPr algn="l">
                        <a:buNone/>
                      </a:pPr>
                      <a:r>
                        <a:rPr lang="en-US" sz="2400" b="1">
                          <a:effectLst/>
                          <a:latin typeface="Times New Roman" panose="02020603050405020304" pitchFamily="18" charset="0"/>
                          <a:cs typeface="Times New Roman" panose="02020603050405020304" pitchFamily="18" charset="0"/>
                        </a:rPr>
                        <a:t>CPU hog</a:t>
                      </a:r>
                      <a:endParaRPr lang="en-US" sz="2400">
                        <a:effectLst/>
                        <a:latin typeface="Times New Roman" panose="02020603050405020304" pitchFamily="18" charset="0"/>
                        <a:cs typeface="Times New Roman" panose="02020603050405020304" pitchFamily="18" charset="0"/>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2400">
                          <a:effectLst/>
                          <a:latin typeface="Times New Roman" panose="02020603050405020304" pitchFamily="18" charset="0"/>
                          <a:cs typeface="Times New Roman" panose="02020603050405020304" pitchFamily="18" charset="0"/>
                        </a:rPr>
                        <a:t>Steady CPU (TIME grows in ps)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2400" b="1">
                          <a:effectLst/>
                          <a:latin typeface="Times New Roman" panose="02020603050405020304" pitchFamily="18" charset="0"/>
                          <a:cs typeface="Times New Roman" panose="02020603050405020304" pitchFamily="18" charset="0"/>
                        </a:rPr>
                        <a:t>4 full cycles completed</a:t>
                      </a:r>
                      <a:r>
                        <a:rPr lang="en-US" sz="2400">
                          <a:effectLst/>
                          <a:latin typeface="Times New Roman" panose="02020603050405020304" pitchFamily="18" charset="0"/>
                          <a:cs typeface="Times New Roman" panose="02020603050405020304" pitchFamily="18" charset="0"/>
                        </a:rPr>
                        <a:t> (sum output)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2613518"/>
                  </a:ext>
                </a:extLst>
              </a:tr>
              <a:tr h="693963">
                <a:tc>
                  <a:txBody>
                    <a:bodyPr/>
                    <a:lstStyle/>
                    <a:p>
                      <a:pPr algn="l">
                        <a:buNone/>
                      </a:pPr>
                      <a:r>
                        <a:rPr lang="en-US" sz="2400" b="1">
                          <a:effectLst/>
                          <a:latin typeface="Times New Roman" panose="02020603050405020304" pitchFamily="18" charset="0"/>
                          <a:cs typeface="Times New Roman" panose="02020603050405020304" pitchFamily="18" charset="0"/>
                        </a:rPr>
                        <a:t>Preemption</a:t>
                      </a:r>
                      <a:endParaRPr lang="en-US" sz="2400">
                        <a:effectLst/>
                        <a:latin typeface="Times New Roman" panose="02020603050405020304" pitchFamily="18" charset="0"/>
                        <a:cs typeface="Times New Roman" panose="02020603050405020304" pitchFamily="18" charset="0"/>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2400">
                          <a:effectLst/>
                          <a:latin typeface="Times New Roman" panose="02020603050405020304" pitchFamily="18" charset="0"/>
                          <a:cs typeface="Times New Roman" panose="02020603050405020304" pitchFamily="18" charset="0"/>
                        </a:rPr>
                        <a:t>Timer interrupts every quantum</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2400">
                          <a:effectLst/>
                          <a:latin typeface="Times New Roman" panose="02020603050405020304" pitchFamily="18" charset="0"/>
                          <a:cs typeface="Times New Roman" panose="02020603050405020304" pitchFamily="18" charset="0"/>
                        </a:rPr>
                        <a:t>Desktop responsive during runs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647615705"/>
                  </a:ext>
                </a:extLst>
              </a:tr>
              <a:tr h="1140083">
                <a:tc>
                  <a:txBody>
                    <a:bodyPr/>
                    <a:lstStyle/>
                    <a:p>
                      <a:pPr algn="l">
                        <a:buNone/>
                      </a:pPr>
                      <a:r>
                        <a:rPr lang="en-US" sz="2400" b="1">
                          <a:effectLst/>
                          <a:latin typeface="Times New Roman" panose="02020603050405020304" pitchFamily="18" charset="0"/>
                          <a:cs typeface="Times New Roman" panose="02020603050405020304" pitchFamily="18" charset="0"/>
                        </a:rPr>
                        <a:t>Other tasks</a:t>
                      </a:r>
                      <a:endParaRPr lang="en-US" sz="2400">
                        <a:effectLst/>
                        <a:latin typeface="Times New Roman" panose="02020603050405020304" pitchFamily="18" charset="0"/>
                        <a:cs typeface="Times New Roman" panose="02020603050405020304" pitchFamily="18" charset="0"/>
                      </a:endParaRP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2400">
                          <a:effectLst/>
                          <a:latin typeface="Times New Roman" panose="02020603050405020304" pitchFamily="18" charset="0"/>
                          <a:cs typeface="Times New Roman" panose="02020603050405020304" pitchFamily="18" charset="0"/>
                        </a:rPr>
                        <a:t>Terminal responsive, prints continue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sz="2400" dirty="0">
                          <a:effectLst/>
                          <a:latin typeface="Times New Roman" panose="02020603050405020304" pitchFamily="18" charset="0"/>
                          <a:cs typeface="Times New Roman" panose="02020603050405020304" pitchFamily="18" charset="0"/>
                        </a:rPr>
                        <a:t>Terminal took 4 more commands smoothly</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518357856"/>
                  </a:ext>
                </a:extLst>
              </a:tr>
            </a:tbl>
          </a:graphicData>
        </a:graphic>
      </p:graphicFrame>
    </p:spTree>
    <p:extLst>
      <p:ext uri="{BB962C8B-B14F-4D97-AF65-F5344CB8AC3E}">
        <p14:creationId xmlns:p14="http://schemas.microsoft.com/office/powerpoint/2010/main" val="3514892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descr="A close-up of several colored objects&#10;&#10;AI-generated content may be incorrect.">
            <a:extLst>
              <a:ext uri="{FF2B5EF4-FFF2-40B4-BE49-F238E27FC236}">
                <a16:creationId xmlns:a16="http://schemas.microsoft.com/office/drawing/2014/main" id="{036F112A-180E-3C92-3E62-07772DD095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3430" y="2040211"/>
            <a:ext cx="3581326" cy="2023135"/>
          </a:xfrm>
          <a:prstGeom prst="rect">
            <a:avLst/>
          </a:prstGeom>
        </p:spPr>
      </p:pic>
      <p:pic>
        <p:nvPicPr>
          <p:cNvPr id="9" name="Picture 8" descr="A logo with black text&#10;&#10;AI-generated content may be incorrect.">
            <a:extLst>
              <a:ext uri="{FF2B5EF4-FFF2-40B4-BE49-F238E27FC236}">
                <a16:creationId xmlns:a16="http://schemas.microsoft.com/office/drawing/2014/main" id="{063E7A88-900D-06E0-6592-F29799666C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1625" y="4557485"/>
            <a:ext cx="3784936" cy="1654775"/>
          </a:xfrm>
          <a:prstGeom prst="rect">
            <a:avLst/>
          </a:prstGeom>
        </p:spPr>
      </p:pic>
      <p:sp>
        <p:nvSpPr>
          <p:cNvPr id="2" name="Title 1">
            <a:extLst>
              <a:ext uri="{FF2B5EF4-FFF2-40B4-BE49-F238E27FC236}">
                <a16:creationId xmlns:a16="http://schemas.microsoft.com/office/drawing/2014/main" id="{A98F6D58-1A39-41ED-99F7-0CE9F03BD344}"/>
              </a:ext>
            </a:extLst>
          </p:cNvPr>
          <p:cNvSpPr>
            <a:spLocks noGrp="1"/>
          </p:cNvSpPr>
          <p:nvPr>
            <p:ph type="title"/>
          </p:nvPr>
        </p:nvSpPr>
        <p:spPr>
          <a:xfrm>
            <a:off x="1097280" y="0"/>
            <a:ext cx="5406902" cy="1469965"/>
          </a:xfrm>
        </p:spPr>
        <p:txBody>
          <a:bodyPr anchor="ctr">
            <a:normAutofit/>
          </a:bodyPr>
          <a:lstStyle/>
          <a:p>
            <a:r>
              <a:rPr lang="en-US" b="1" dirty="0"/>
              <a:t>What You Learned</a:t>
            </a:r>
          </a:p>
        </p:txBody>
      </p:sp>
      <p:pic>
        <p:nvPicPr>
          <p:cNvPr id="4" name="Graphic 3" descr="Chat">
            <a:extLst>
              <a:ext uri="{FF2B5EF4-FFF2-40B4-BE49-F238E27FC236}">
                <a16:creationId xmlns:a16="http://schemas.microsoft.com/office/drawing/2014/main" id="{AEE98CC8-0F49-4433-9FD0-35E20C04B5D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0" y="0"/>
            <a:ext cx="1097280" cy="1097280"/>
          </a:xfrm>
          <a:prstGeom prst="rect">
            <a:avLst/>
          </a:prstGeom>
        </p:spPr>
      </p:pic>
      <p:sp>
        <p:nvSpPr>
          <p:cNvPr id="3" name="Content Placeholder 2">
            <a:extLst>
              <a:ext uri="{FF2B5EF4-FFF2-40B4-BE49-F238E27FC236}">
                <a16:creationId xmlns:a16="http://schemas.microsoft.com/office/drawing/2014/main" id="{3BF933A4-33C5-4102-BBB0-9B15EFF2F292}"/>
              </a:ext>
            </a:extLst>
          </p:cNvPr>
          <p:cNvSpPr>
            <a:spLocks noGrp="1"/>
          </p:cNvSpPr>
          <p:nvPr>
            <p:ph idx="1"/>
          </p:nvPr>
        </p:nvSpPr>
        <p:spPr>
          <a:xfrm>
            <a:off x="548640" y="1469965"/>
            <a:ext cx="5406902" cy="1688746"/>
          </a:xfrm>
        </p:spPr>
        <p:txBody>
          <a:bodyPr vert="horz" lIns="91440" tIns="45720" rIns="91440" bIns="45720" rtlCol="0" anchor="t">
            <a:normAutofit fontScale="25000" lnSpcReduction="20000"/>
          </a:bodyPr>
          <a:lstStyle/>
          <a:p>
            <a:r>
              <a:rPr lang="en-US" sz="11200" dirty="0" err="1">
                <a:latin typeface="Times New Roman" panose="02020603050405020304" pitchFamily="18" charset="0"/>
                <a:cs typeface="Times New Roman" panose="02020603050405020304" pitchFamily="18" charset="0"/>
              </a:rPr>
              <a:t>cpuhog</a:t>
            </a:r>
            <a:r>
              <a:rPr lang="en-US" sz="11200" dirty="0">
                <a:latin typeface="Times New Roman" panose="02020603050405020304" pitchFamily="18" charset="0"/>
                <a:cs typeface="Times New Roman" panose="02020603050405020304" pitchFamily="18" charset="0"/>
              </a:rPr>
              <a:t> = extreme background hog process</a:t>
            </a:r>
          </a:p>
          <a:p>
            <a:r>
              <a:rPr lang="en-US" sz="11200" b="1" dirty="0">
                <a:latin typeface="Times New Roman" panose="02020603050405020304" pitchFamily="18" charset="0"/>
                <a:cs typeface="Times New Roman" panose="02020603050405020304" pitchFamily="18" charset="0"/>
              </a:rPr>
              <a:t>Growing TIME in </a:t>
            </a:r>
            <a:r>
              <a:rPr lang="en-US" sz="11200" b="1" dirty="0" err="1">
                <a:latin typeface="Times New Roman" panose="02020603050405020304" pitchFamily="18" charset="0"/>
                <a:cs typeface="Times New Roman" panose="02020603050405020304" pitchFamily="18" charset="0"/>
              </a:rPr>
              <a:t>ps</a:t>
            </a:r>
            <a:r>
              <a:rPr lang="en-US" sz="11200" dirty="0">
                <a:latin typeface="Times New Roman" panose="02020603050405020304" pitchFamily="18" charset="0"/>
                <a:cs typeface="Times New Roman" panose="02020603050405020304" pitchFamily="18" charset="0"/>
              </a:rPr>
              <a:t> = proof of CPU consumption</a:t>
            </a:r>
          </a:p>
          <a:p>
            <a:r>
              <a:rPr lang="en-US" sz="11200" dirty="0">
                <a:latin typeface="Times New Roman" panose="02020603050405020304" pitchFamily="18" charset="0"/>
                <a:cs typeface="Times New Roman" panose="02020603050405020304" pitchFamily="18" charset="0"/>
              </a:rPr>
              <a:t>Quanta/preemption prevent total system freeze</a:t>
            </a:r>
          </a:p>
          <a:p>
            <a:r>
              <a:rPr lang="en-US" sz="11200" dirty="0">
                <a:latin typeface="Times New Roman" panose="02020603050405020304" pitchFamily="18" charset="0"/>
                <a:cs typeface="Times New Roman" panose="02020603050405020304" pitchFamily="18" charset="0"/>
              </a:rPr>
              <a:t>PC hangs (100-500ms), browser tabs, game stutters = same principles</a:t>
            </a:r>
          </a:p>
          <a:p>
            <a:r>
              <a:rPr lang="en-US" sz="11200" dirty="0">
                <a:latin typeface="Times New Roman" panose="02020603050405020304" pitchFamily="18" charset="0"/>
                <a:cs typeface="Times New Roman" panose="02020603050405020304" pitchFamily="18" charset="0"/>
              </a:rPr>
              <a:t>MINIX 3 &amp; Linux: different mechanisms, same goals</a:t>
            </a:r>
          </a:p>
          <a:p>
            <a:endParaRPr lang="en-US" sz="2000" dirty="0">
              <a:latin typeface="Franklin Gothic Book" panose="020B0503020102020204" pitchFamily="34" charset="0"/>
            </a:endParaRPr>
          </a:p>
        </p:txBody>
      </p:sp>
      <p:pic>
        <p:nvPicPr>
          <p:cNvPr id="8" name="Graphic 7">
            <a:extLst>
              <a:ext uri="{FF2B5EF4-FFF2-40B4-BE49-F238E27FC236}">
                <a16:creationId xmlns:a16="http://schemas.microsoft.com/office/drawing/2014/main" id="{590430A8-7125-464C-98BA-3409573DB5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alphaModFix amt="15000"/>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41431" y="816337"/>
            <a:ext cx="5225327" cy="5225327"/>
          </a:xfrm>
          <a:prstGeom prst="rect">
            <a:avLst/>
          </a:prstGeom>
        </p:spPr>
      </p:pic>
      <p:pic>
        <p:nvPicPr>
          <p:cNvPr id="6" name="Picture 5" descr="A blue text on a white background&#10;&#10;AI-generated content may be incorrect.">
            <a:extLst>
              <a:ext uri="{FF2B5EF4-FFF2-40B4-BE49-F238E27FC236}">
                <a16:creationId xmlns:a16="http://schemas.microsoft.com/office/drawing/2014/main" id="{446E9EAC-66D1-D622-2694-B6F69ABA7B3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57498" y="239261"/>
            <a:ext cx="5393191" cy="1306812"/>
          </a:xfrm>
          <a:prstGeom prst="rect">
            <a:avLst/>
          </a:prstGeom>
        </p:spPr>
      </p:pic>
    </p:spTree>
    <p:extLst>
      <p:ext uri="{BB962C8B-B14F-4D97-AF65-F5344CB8AC3E}">
        <p14:creationId xmlns:p14="http://schemas.microsoft.com/office/powerpoint/2010/main" val="2880909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0041" y="982364"/>
            <a:ext cx="2659472" cy="2659472"/>
          </a:xfrm>
          <a:prstGeom prst="rect">
            <a:avLst/>
          </a:prstGeom>
        </p:spPr>
      </p:pic>
      <p:cxnSp>
        <p:nvCxnSpPr>
          <p:cNvPr id="16" name="Straight Connector 15">
            <a:extLst>
              <a:ext uri="{FF2B5EF4-FFF2-40B4-BE49-F238E27FC236}">
                <a16:creationId xmlns:a16="http://schemas.microsoft.com/office/drawing/2014/main" id="{DFDA47BC-3069-47F5-8257-24B3B1F76A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2927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0143" y="983211"/>
            <a:ext cx="2646677" cy="2646677"/>
          </a:xfrm>
          <a:prstGeom prst="rect">
            <a:avLst/>
          </a:prstGeom>
        </p:spPr>
      </p:pic>
      <p:cxnSp>
        <p:nvCxnSpPr>
          <p:cNvPr id="20" name="Straight Connector 19">
            <a:extLst>
              <a:ext uri="{FF2B5EF4-FFF2-40B4-BE49-F238E27FC236}">
                <a16:creationId xmlns:a16="http://schemas.microsoft.com/office/drawing/2014/main" id="{942B920A-73AD-402A-8EEF-B88E1A9398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768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56859" y="982364"/>
            <a:ext cx="2648371" cy="2648371"/>
          </a:xfrm>
          <a:prstGeom prst="rect">
            <a:avLst/>
          </a:prstGeom>
        </p:spPr>
      </p:pic>
      <p:cxnSp>
        <p:nvCxnSpPr>
          <p:cNvPr id="22" name="Straight Connector 21">
            <a:extLst>
              <a:ext uri="{FF2B5EF4-FFF2-40B4-BE49-F238E27FC236}">
                <a16:creationId xmlns:a16="http://schemas.microsoft.com/office/drawing/2014/main" id="{00C9EB70-BC82-414A-BF8D-AD7FC67276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6609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25269" y="1004677"/>
            <a:ext cx="2648372" cy="2648372"/>
          </a:xfrm>
          <a:prstGeom prst="rect">
            <a:avLst/>
          </a:prstGeom>
        </p:spPr>
      </p:pic>
      <p:sp>
        <p:nvSpPr>
          <p:cNvPr id="18" name="Rectangle 17">
            <a:extLst>
              <a:ext uri="{FF2B5EF4-FFF2-40B4-BE49-F238E27FC236}">
                <a16:creationId xmlns:a16="http://schemas.microsoft.com/office/drawing/2014/main" id="{7AE95D8F-9825-4222-8846-E3461598C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61AC0E-7195-4ACF-AA0A-5E2923A987F7}"/>
              </a:ext>
            </a:extLst>
          </p:cNvPr>
          <p:cNvSpPr>
            <a:spLocks noGrp="1"/>
          </p:cNvSpPr>
          <p:nvPr>
            <p:ph type="ctrTitle"/>
          </p:nvPr>
        </p:nvSpPr>
        <p:spPr>
          <a:xfrm>
            <a:off x="527538" y="4756638"/>
            <a:ext cx="11139854" cy="930447"/>
          </a:xfrm>
        </p:spPr>
        <p:txBody>
          <a:bodyPr>
            <a:normAutofit/>
          </a:bodyPr>
          <a:lstStyle/>
          <a:p>
            <a:r>
              <a:rPr lang="en-US" sz="5400" dirty="0">
                <a:solidFill>
                  <a:srgbClr val="FFFFFF"/>
                </a:solidFill>
                <a:latin typeface="Franklin Gothic Book" panose="020B0503020102020204" pitchFamily="34" charset="0"/>
                <a:cs typeface="Segoe UI" panose="020B0502040204020203" pitchFamily="34" charset="0"/>
              </a:rPr>
              <a:t>Presentation End</a:t>
            </a:r>
          </a:p>
        </p:txBody>
      </p:sp>
      <p:cxnSp>
        <p:nvCxnSpPr>
          <p:cNvPr id="24" name="Straight Connector 23">
            <a:extLst>
              <a:ext uri="{FF2B5EF4-FFF2-40B4-BE49-F238E27FC236}">
                <a16:creationId xmlns:a16="http://schemas.microsoft.com/office/drawing/2014/main" id="{3217665F-0036-444A-8D4A-33AF36A36A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573869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96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781794_win32_fixed.potx" id="{FFA6945E-0D2E-49A3-B8AE-0157B47B7617}" vid="{3D53E5D5-FE42-40E3-89B4-70F55FAC32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Research presentation</Template>
  <TotalTime>250</TotalTime>
  <Words>1235</Words>
  <Application>Microsoft Office PowerPoint</Application>
  <PresentationFormat>Widescreen</PresentationFormat>
  <Paragraphs>93</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Franklin Gothic Book</vt:lpstr>
      <vt:lpstr>Segoe UI</vt:lpstr>
      <vt:lpstr>Times New Roman</vt:lpstr>
      <vt:lpstr>Office Theme</vt:lpstr>
      <vt:lpstr>CSC 341: Operating Systems - CPU Scheduling Research Project - Alex Cao - 12/18/2025 - California State University Dominguez Hills  </vt:lpstr>
      <vt:lpstr>What is CPU Scheduling?</vt:lpstr>
      <vt:lpstr>Preemption and Quanta</vt:lpstr>
      <vt:lpstr>Why Quanta Matter</vt:lpstr>
      <vt:lpstr>MINIX 3 cpuhog Experiment</vt:lpstr>
      <vt:lpstr>Linux Bash cpuhog Experiment</vt:lpstr>
      <vt:lpstr>How the Schedulers Behaved</vt:lpstr>
      <vt:lpstr>What You Learned</vt:lpstr>
      <vt:lpstr>Presentation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Cao</dc:creator>
  <cp:lastModifiedBy>Alex Cao</cp:lastModifiedBy>
  <cp:revision>6</cp:revision>
  <dcterms:created xsi:type="dcterms:W3CDTF">2025-12-16T21:28:39Z</dcterms:created>
  <dcterms:modified xsi:type="dcterms:W3CDTF">2025-12-17T10:23:54Z</dcterms:modified>
</cp:coreProperties>
</file>